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F5E5CF62-5966-4AB8-8AE4-D05254DD81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3BE1074-CDF6-4215-91E7-F71F4AEB3A31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FE4D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E4D1"/>
                </a:solidFill>
                <a:latin typeface="Aptos"/>
                <a:ea typeface="Aptos"/>
                <a:cs typeface="Aptos"/>
              </a:rPr>
              <a:t>FOODTRACK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E3640E6-18BB-41F8-9932-1BC76E376CD3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361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AAB6C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6C8"/>
                </a:solidFill>
                <a:latin typeface="Aptos"/>
                <a:ea typeface="Aptos"/>
                <a:cs typeface="Aptos"/>
              </a:rPr>
              <a:t>Presentacion tecnica del proyecto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6CAAD44-EE64-4B54-9890-4668660CCC29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647700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5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Gestion de restaurante con reportes IA externos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73DC1C2-93E8-468A-953D-88E15F35CAB3}"/>
              </a:ext>
            </a:extLst>
          </p:cNvPr>
          <p:cNvSpPr>
            <a:spLocks noGrp="1"/>
          </p:cNvSpPr>
          <p:nvPr/>
        </p:nvSpPr>
        <p:spPr>
          <a:xfrm>
            <a:off x="571500" y="3143250"/>
            <a:ext cx="5619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E6F3"/>
                </a:solidFill>
                <a:latin typeface="Aptos"/>
                <a:ea typeface="Aptos"/>
                <a:cs typeface="Aptos"/>
              </a:rPr>
              <a:t>Arquitectura Spring Boot + Angular + MySQL, integrada con una API externa que genera reportes diarios con OpenAI y envia correo a administradores.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EB9049F-6C20-4B2C-9752-32948DC4A396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9525" cy="533400"/>
          </a:xfrm>
          <a:prstGeom prst="rect">
            <a:avLst/>
          </a:prstGeom>
          <a:solidFill>
            <a:srgbClr val="2E7D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DDB0C7C-6793-4FBD-B73C-8D1D51A6F15B}"/>
              </a:ext>
            </a:extLst>
          </p:cNvPr>
          <p:cNvSpPr>
            <a:spLocks noGrp="1"/>
          </p:cNvSpPr>
          <p:nvPr/>
        </p:nvSpPr>
        <p:spPr>
          <a:xfrm>
            <a:off x="742950" y="4552950"/>
            <a:ext cx="1295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8080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D7D66A2-B789-420E-A196-314D582ED8B1}"/>
              </a:ext>
            </a:extLst>
          </p:cNvPr>
          <p:cNvSpPr>
            <a:spLocks noGrp="1"/>
          </p:cNvSpPr>
          <p:nvPr/>
        </p:nvSpPr>
        <p:spPr>
          <a:xfrm>
            <a:off x="742950" y="4914900"/>
            <a:ext cx="1295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B6C1D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6C1D4"/>
                </a:solidFill>
                <a:latin typeface="Aptos"/>
                <a:ea typeface="Aptos"/>
                <a:cs typeface="Aptos"/>
              </a:rPr>
              <a:t>Backend principal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889DE4B-1388-4730-8FBD-D1AD60FE005B}"/>
              </a:ext>
            </a:extLst>
          </p:cNvPr>
          <p:cNvSpPr>
            <a:spLocks noGrp="1"/>
          </p:cNvSpPr>
          <p:nvPr/>
        </p:nvSpPr>
        <p:spPr>
          <a:xfrm>
            <a:off x="2476500" y="4591050"/>
            <a:ext cx="9525" cy="5334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C3B2FF6-DF6B-4156-817B-22AA2DAD4A2B}"/>
              </a:ext>
            </a:extLst>
          </p:cNvPr>
          <p:cNvSpPr>
            <a:spLocks noGrp="1"/>
          </p:cNvSpPr>
          <p:nvPr/>
        </p:nvSpPr>
        <p:spPr>
          <a:xfrm>
            <a:off x="2609850" y="4552950"/>
            <a:ext cx="1581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8081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16D7903-0C79-4081-AC9F-35E0059A7E61}"/>
              </a:ext>
            </a:extLst>
          </p:cNvPr>
          <p:cNvSpPr>
            <a:spLocks noGrp="1"/>
          </p:cNvSpPr>
          <p:nvPr/>
        </p:nvSpPr>
        <p:spPr>
          <a:xfrm>
            <a:off x="2609850" y="4914900"/>
            <a:ext cx="1581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B6C1D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6C1D4"/>
                </a:solidFill>
                <a:latin typeface="Aptos"/>
                <a:ea typeface="Aptos"/>
                <a:cs typeface="Aptos"/>
              </a:rPr>
              <a:t>ReportService externo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2D546D9-DEDD-40C0-80E7-70A2590D318F}"/>
              </a:ext>
            </a:extLst>
          </p:cNvPr>
          <p:cNvSpPr>
            <a:spLocks noGrp="1"/>
          </p:cNvSpPr>
          <p:nvPr/>
        </p:nvSpPr>
        <p:spPr>
          <a:xfrm>
            <a:off x="4724400" y="4591050"/>
            <a:ext cx="9525" cy="533400"/>
          </a:xfrm>
          <a:prstGeom prst="rect">
            <a:avLst/>
          </a:prstGeom>
          <a:solidFill>
            <a:srgbClr val="D58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2474690-39D0-4FDC-9E0B-F04AB10F375B}"/>
              </a:ext>
            </a:extLst>
          </p:cNvPr>
          <p:cNvSpPr>
            <a:spLocks noGrp="1"/>
          </p:cNvSpPr>
          <p:nvPr/>
        </p:nvSpPr>
        <p:spPr>
          <a:xfrm>
            <a:off x="4857750" y="4552950"/>
            <a:ext cx="1485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20:00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3951474-584D-4950-8C7D-1F49EE541309}"/>
              </a:ext>
            </a:extLst>
          </p:cNvPr>
          <p:cNvSpPr>
            <a:spLocks noGrp="1"/>
          </p:cNvSpPr>
          <p:nvPr/>
        </p:nvSpPr>
        <p:spPr>
          <a:xfrm>
            <a:off x="4857750" y="4914900"/>
            <a:ext cx="1485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B6C1D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6C1D4"/>
                </a:solidFill>
                <a:latin typeface="Aptos"/>
                <a:ea typeface="Aptos"/>
                <a:cs typeface="Aptos"/>
              </a:rPr>
              <a:t>Scheduler diario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6DA9F6A-A891-42D1-9F0C-1B428AF2B442}"/>
              </a:ext>
            </a:extLst>
          </p:cNvPr>
          <p:cNvSpPr>
            <a:spLocks noGrp="1"/>
          </p:cNvSpPr>
          <p:nvPr/>
        </p:nvSpPr>
        <p:spPr>
          <a:xfrm>
            <a:off x="7200900" y="866775"/>
            <a:ext cx="3981450" cy="22669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1B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3"/>
          <a:srcRect t="111" b="111"/>
          <a:stretch>
            <a:fillRect/>
          </a:stretch>
        </p:blipFill>
        <p:spPr>
          <a:xfrm>
            <a:off x="7239000" y="904875"/>
            <a:ext cx="3905250" cy="2190750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C8289644-7DD2-4525-B6BF-F35DC6C26E92}"/>
              </a:ext>
            </a:extLst>
          </p:cNvPr>
          <p:cNvSpPr>
            <a:spLocks noGrp="1"/>
          </p:cNvSpPr>
          <p:nvPr/>
        </p:nvSpPr>
        <p:spPr>
          <a:xfrm>
            <a:off x="7239000" y="3190875"/>
            <a:ext cx="3905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Frontend FoodTrack - home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80B5EBB-4C42-4629-8CDD-6A9C46CFDC7B}"/>
              </a:ext>
            </a:extLst>
          </p:cNvPr>
          <p:cNvSpPr>
            <a:spLocks noGrp="1"/>
          </p:cNvSpPr>
          <p:nvPr/>
        </p:nvSpPr>
        <p:spPr>
          <a:xfrm>
            <a:off x="7772400" y="3505200"/>
            <a:ext cx="3409950" cy="19431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1B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4"/>
          <a:srcRect t="198" b="198"/>
          <a:stretch>
            <a:fillRect/>
          </a:stretch>
        </p:blipFill>
        <p:spPr>
          <a:xfrm>
            <a:off x="7810500" y="3543300"/>
            <a:ext cx="3333750" cy="1866900"/>
          </a:xfrm>
          <a:prstGeom prst="rect">
            <a:avLst/>
          </a:prstGeom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9FDAC2EB-3900-4A8B-ACDA-E4C748BBD195}"/>
              </a:ext>
            </a:extLst>
          </p:cNvPr>
          <p:cNvSpPr>
            <a:spLocks noGrp="1"/>
          </p:cNvSpPr>
          <p:nvPr/>
        </p:nvSpPr>
        <p:spPr>
          <a:xfrm>
            <a:off x="7810500" y="5505450"/>
            <a:ext cx="3333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Pantalla de acceso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32EE476-40D6-4B46-98F5-B768ED59D8C2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9525"/>
          </a:xfrm>
          <a:prstGeom prst="rect">
            <a:avLst/>
          </a:prstGeom>
          <a:solidFill>
            <a:srgbClr val="2A344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E58F596-3A7F-4F31-9C3C-D4CD78FE95C3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AAB6C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AB6C8"/>
                </a:solidFill>
                <a:latin typeface="Aptos"/>
                <a:ea typeface="Aptos"/>
                <a:cs typeface="Aptos"/>
              </a:rPr>
              <a:t>FoodTrack | evidencia: capturas locales del frontend y servicios 8080/8081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837C18B-6C7A-496C-B214-6A00D48686C5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8342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 35">
            <a:extLst>
              <a:ext uri="{FF2B5EF4-FFF2-40B4-BE49-F238E27FC236}">
                <a16:creationId xmlns:a16="http://schemas.microsoft.com/office/drawing/2014/main" id="{42AD92F2-159C-4CB7-B705-5437B1914D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C0B1011-3F71-41CA-987B-2BAD24DB28DC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95250" cy="95250"/>
          </a:xfrm>
          <a:prstGeom prst="rect">
            <a:avLst/>
          </a:prstGeom>
          <a:solidFill>
            <a:srgbClr val="2E7D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4F322D6-2000-4EDA-ACFD-455E42BA80DB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ARQUITECTURA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EF8D16B-3CC5-4BFE-A7FD-601C707EAEF7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La API de reportes es externa, pero comparte la misma fuente de verdad.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6240FDB-60D0-4126-8EAF-B190C442443F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180975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8A83952-C06D-40DE-90D0-90F1D4D66FEE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Angular SPA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15C8A36-6841-4507-99C4-8485FD474992}"/>
              </a:ext>
            </a:extLst>
          </p:cNvPr>
          <p:cNvSpPr>
            <a:spLocks noGrp="1"/>
          </p:cNvSpPr>
          <p:nvPr/>
        </p:nvSpPr>
        <p:spPr>
          <a:xfrm>
            <a:off x="819150" y="2667000"/>
            <a:ext cx="15430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UI operativa, historial de ventas, boton manual de reporte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D450B51-82C3-4055-B381-05B7C309D333}"/>
              </a:ext>
            </a:extLst>
          </p:cNvPr>
          <p:cNvSpPr>
            <a:spLocks noGrp="1"/>
          </p:cNvSpPr>
          <p:nvPr/>
        </p:nvSpPr>
        <p:spPr>
          <a:xfrm>
            <a:off x="3409950" y="1981200"/>
            <a:ext cx="219075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F6FE443-9E2D-47E5-B6B7-A81AE4C05A08}"/>
              </a:ext>
            </a:extLst>
          </p:cNvPr>
          <p:cNvSpPr>
            <a:spLocks noGrp="1"/>
          </p:cNvSpPr>
          <p:nvPr/>
        </p:nvSpPr>
        <p:spPr>
          <a:xfrm>
            <a:off x="3543300" y="2095500"/>
            <a:ext cx="1924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Backend FoodTrack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01052CA-7C11-4BF1-B46B-DDD5764612F7}"/>
              </a:ext>
            </a:extLst>
          </p:cNvPr>
          <p:cNvSpPr>
            <a:spLocks noGrp="1"/>
          </p:cNvSpPr>
          <p:nvPr/>
        </p:nvSpPr>
        <p:spPr>
          <a:xfrm>
            <a:off x="3543300" y="2362200"/>
            <a:ext cx="19240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Spring Boot 3.4.4, REST, casos de uso, seguridad, JPA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0084AEA-E89C-40C3-9E80-A2C9CB763DAB}"/>
              </a:ext>
            </a:extLst>
          </p:cNvPr>
          <p:cNvSpPr>
            <a:spLocks noGrp="1"/>
          </p:cNvSpPr>
          <p:nvPr/>
        </p:nvSpPr>
        <p:spPr>
          <a:xfrm>
            <a:off x="6667500" y="2209800"/>
            <a:ext cx="18859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8A2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930B215-AA08-4571-8799-B9667A931360}"/>
              </a:ext>
            </a:extLst>
          </p:cNvPr>
          <p:cNvSpPr>
            <a:spLocks noGrp="1"/>
          </p:cNvSpPr>
          <p:nvPr/>
        </p:nvSpPr>
        <p:spPr>
          <a:xfrm>
            <a:off x="6800850" y="23241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MySQL foodtrack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DC5B969-4E87-4C25-A761-34EEA8C7A17C}"/>
              </a:ext>
            </a:extLst>
          </p:cNvPr>
          <p:cNvSpPr>
            <a:spLocks noGrp="1"/>
          </p:cNvSpPr>
          <p:nvPr/>
        </p:nvSpPr>
        <p:spPr>
          <a:xfrm>
            <a:off x="6800850" y="2590800"/>
            <a:ext cx="1619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orders, order_items, products, app_users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55A27FE-36B2-43EB-AB73-0B699F7E91D9}"/>
              </a:ext>
            </a:extLst>
          </p:cNvPr>
          <p:cNvSpPr>
            <a:spLocks noGrp="1"/>
          </p:cNvSpPr>
          <p:nvPr/>
        </p:nvSpPr>
        <p:spPr>
          <a:xfrm>
            <a:off x="3409950" y="4095750"/>
            <a:ext cx="2190750" cy="1238250"/>
          </a:xfrm>
          <a:prstGeom prst="rect">
            <a:avLst/>
          </a:prstGeom>
          <a:solidFill>
            <a:srgbClr val="CFE0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D4CDCE2-E119-4CBC-885F-EDFB57C99C54}"/>
              </a:ext>
            </a:extLst>
          </p:cNvPr>
          <p:cNvSpPr>
            <a:spLocks noGrp="1"/>
          </p:cNvSpPr>
          <p:nvPr/>
        </p:nvSpPr>
        <p:spPr>
          <a:xfrm>
            <a:off x="3543300" y="4210050"/>
            <a:ext cx="1924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ReportService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16C151B-1B89-4C1E-895E-00989F3EEB8E}"/>
              </a:ext>
            </a:extLst>
          </p:cNvPr>
          <p:cNvSpPr>
            <a:spLocks noGrp="1"/>
          </p:cNvSpPr>
          <p:nvPr/>
        </p:nvSpPr>
        <p:spPr>
          <a:xfrm>
            <a:off x="3543300" y="4476750"/>
            <a:ext cx="19240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Spring Boot externo: datos, OpenAI, email, scheduler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05C7A35-D7CE-4526-8FE0-15BB72FD434F}"/>
              </a:ext>
            </a:extLst>
          </p:cNvPr>
          <p:cNvSpPr>
            <a:spLocks noGrp="1"/>
          </p:cNvSpPr>
          <p:nvPr/>
        </p:nvSpPr>
        <p:spPr>
          <a:xfrm>
            <a:off x="6686550" y="4000500"/>
            <a:ext cx="18669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B337365-BF49-4C05-8563-F49A71D9FCDB}"/>
              </a:ext>
            </a:extLst>
          </p:cNvPr>
          <p:cNvSpPr>
            <a:spLocks noGrp="1"/>
          </p:cNvSpPr>
          <p:nvPr/>
        </p:nvSpPr>
        <p:spPr>
          <a:xfrm>
            <a:off x="6819900" y="4114800"/>
            <a:ext cx="1600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OpenAI API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C8C8D94-E08F-4A2B-A052-671505061F19}"/>
              </a:ext>
            </a:extLst>
          </p:cNvPr>
          <p:cNvSpPr>
            <a:spLocks noGrp="1"/>
          </p:cNvSpPr>
          <p:nvPr/>
        </p:nvSpPr>
        <p:spPr>
          <a:xfrm>
            <a:off x="6819900" y="43815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Generacion del reporte profesional; fallback si falla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EFE6937-BE65-4B97-9543-53841FCA0A25}"/>
              </a:ext>
            </a:extLst>
          </p:cNvPr>
          <p:cNvSpPr>
            <a:spLocks noGrp="1"/>
          </p:cNvSpPr>
          <p:nvPr/>
        </p:nvSpPr>
        <p:spPr>
          <a:xfrm>
            <a:off x="9144000" y="4000500"/>
            <a:ext cx="18669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58A2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75F68EC-6B84-46E7-990C-45AFE8697511}"/>
              </a:ext>
            </a:extLst>
          </p:cNvPr>
          <p:cNvSpPr>
            <a:spLocks noGrp="1"/>
          </p:cNvSpPr>
          <p:nvPr/>
        </p:nvSpPr>
        <p:spPr>
          <a:xfrm>
            <a:off x="9277350" y="4114800"/>
            <a:ext cx="1600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Gmail SMTP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5B3D995-9EAF-4788-9C5F-A4429D7883B2}"/>
              </a:ext>
            </a:extLst>
          </p:cNvPr>
          <p:cNvSpPr>
            <a:spLocks noGrp="1"/>
          </p:cNvSpPr>
          <p:nvPr/>
        </p:nvSpPr>
        <p:spPr>
          <a:xfrm>
            <a:off x="9277350" y="43815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Entrega a todos los administradores con email real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14C0FA7-3F79-452E-8B3F-8196A983E15F}"/>
              </a:ext>
            </a:extLst>
          </p:cNvPr>
          <p:cNvSpPr>
            <a:spLocks noGrp="1"/>
          </p:cNvSpPr>
          <p:nvPr/>
        </p:nvSpPr>
        <p:spPr>
          <a:xfrm>
            <a:off x="2495550" y="2800350"/>
            <a:ext cx="914400" cy="19050"/>
          </a:xfrm>
          <a:prstGeom prst="rect">
            <a:avLst/>
          </a:prstGeom>
          <a:solidFill>
            <a:srgbClr val="2E7D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8CE5351-33D1-467B-8A29-E409CA89E0BF}"/>
              </a:ext>
            </a:extLst>
          </p:cNvPr>
          <p:cNvSpPr>
            <a:spLocks noGrp="1"/>
          </p:cNvSpPr>
          <p:nvPr/>
        </p:nvSpPr>
        <p:spPr>
          <a:xfrm>
            <a:off x="2686050" y="257175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REST 8080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8CE037D-B774-47E5-932E-7F775D7EC783}"/>
              </a:ext>
            </a:extLst>
          </p:cNvPr>
          <p:cNvSpPr>
            <a:spLocks noGrp="1"/>
          </p:cNvSpPr>
          <p:nvPr/>
        </p:nvSpPr>
        <p:spPr>
          <a:xfrm>
            <a:off x="5600700" y="2647950"/>
            <a:ext cx="1066800" cy="19050"/>
          </a:xfrm>
          <a:prstGeom prst="rect">
            <a:avLst/>
          </a:prstGeom>
          <a:solidFill>
            <a:srgbClr val="D58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C648F28-9DA2-49E8-8AA7-5F1142E7DB1C}"/>
              </a:ext>
            </a:extLst>
          </p:cNvPr>
          <p:cNvSpPr>
            <a:spLocks noGrp="1"/>
          </p:cNvSpPr>
          <p:nvPr/>
        </p:nvSpPr>
        <p:spPr>
          <a:xfrm>
            <a:off x="6038850" y="2419350"/>
            <a:ext cx="419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D58A24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58A24"/>
                </a:solidFill>
                <a:latin typeface="Aptos"/>
                <a:ea typeface="Aptos"/>
                <a:cs typeface="Aptos"/>
              </a:rPr>
              <a:t>JPA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D0B0513-67A1-466D-BACF-A7F9372B0484}"/>
              </a:ext>
            </a:extLst>
          </p:cNvPr>
          <p:cNvSpPr>
            <a:spLocks noGrp="1"/>
          </p:cNvSpPr>
          <p:nvPr/>
        </p:nvSpPr>
        <p:spPr>
          <a:xfrm>
            <a:off x="4505325" y="3295650"/>
            <a:ext cx="19050" cy="800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4170109-6E9D-454A-B204-272752025315}"/>
              </a:ext>
            </a:extLst>
          </p:cNvPr>
          <p:cNvSpPr>
            <a:spLocks noGrp="1"/>
          </p:cNvSpPr>
          <p:nvPr/>
        </p:nvSpPr>
        <p:spPr>
          <a:xfrm>
            <a:off x="4762500" y="348615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POST /api/admin/reports/generate-now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7142AB6-F9F1-4980-9860-7FE14B6F936E}"/>
              </a:ext>
            </a:extLst>
          </p:cNvPr>
          <p:cNvSpPr>
            <a:spLocks noGrp="1"/>
          </p:cNvSpPr>
          <p:nvPr/>
        </p:nvSpPr>
        <p:spPr>
          <a:xfrm>
            <a:off x="5600700" y="4419600"/>
            <a:ext cx="19050" cy="2667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EFE18CE-B662-45F2-91C0-FB71730380FB}"/>
              </a:ext>
            </a:extLst>
          </p:cNvPr>
          <p:cNvSpPr>
            <a:spLocks noGrp="1"/>
          </p:cNvSpPr>
          <p:nvPr/>
        </p:nvSpPr>
        <p:spPr>
          <a:xfrm>
            <a:off x="8553450" y="4419600"/>
            <a:ext cx="590550" cy="19050"/>
          </a:xfrm>
          <a:prstGeom prst="rect">
            <a:avLst/>
          </a:prstGeom>
          <a:solidFill>
            <a:srgbClr val="D58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48D7BB86-E469-4FA9-942E-8A568E144D4E}"/>
              </a:ext>
            </a:extLst>
          </p:cNvPr>
          <p:cNvSpPr>
            <a:spLocks noGrp="1"/>
          </p:cNvSpPr>
          <p:nvPr/>
        </p:nvSpPr>
        <p:spPr>
          <a:xfrm>
            <a:off x="5600700" y="2952750"/>
            <a:ext cx="19050" cy="1733550"/>
          </a:xfrm>
          <a:prstGeom prst="rect">
            <a:avLst/>
          </a:prstGeom>
          <a:solidFill>
            <a:srgbClr val="D58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3287D5F9-C75D-41A3-AF09-DB1621A2138D}"/>
              </a:ext>
            </a:extLst>
          </p:cNvPr>
          <p:cNvSpPr>
            <a:spLocks noGrp="1"/>
          </p:cNvSpPr>
          <p:nvPr/>
        </p:nvSpPr>
        <p:spPr>
          <a:xfrm>
            <a:off x="5981700" y="3714750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D58A24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58A24"/>
                </a:solidFill>
                <a:latin typeface="Aptos"/>
                <a:ea typeface="Aptos"/>
                <a:cs typeface="Aptos"/>
              </a:rPr>
              <a:t>misma BD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9BE6F58-876D-409E-9038-82C4B016EBDC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9525"/>
          </a:xfrm>
          <a:prstGeom prst="rect">
            <a:avLst/>
          </a:prstGeom>
          <a:solidFill>
            <a:srgbClr val="D9D3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D964BF5-617D-4FF1-A07E-D5E5E6C91371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Fuentes: docker-compose.yml, application.properties, ReportService application.yml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86415B1B-CADF-4A58-B766-B7E2A61CAABA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24811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 32">
            <a:extLst>
              <a:ext uri="{FF2B5EF4-FFF2-40B4-BE49-F238E27FC236}">
                <a16:creationId xmlns:a16="http://schemas.microsoft.com/office/drawing/2014/main" id="{8A874526-4AAC-43E8-BCED-7564DF91C4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63F0B02-6DA0-4011-A0BC-74F0ACC05BBE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95250" cy="95250"/>
          </a:xfrm>
          <a:prstGeom prst="rect">
            <a:avLst/>
          </a:prstGeom>
          <a:solidFill>
            <a:srgbClr val="2E7D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0EBA55E-8DEA-459E-A091-42E118E52785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IMPLEMENTACION DE MODULOS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70CC120-C492-4C40-A05F-E563043C26D1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El backend separa entrada, aplicacion, dominio e infraestructura.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7FD3CBE-9ABD-47C8-A7BC-AC0AAE89E4F2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4591050" cy="590550"/>
          </a:xfrm>
          <a:prstGeom prst="rect">
            <a:avLst/>
          </a:prstGeom>
          <a:solidFill>
            <a:srgbClr val="BFE4D1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C50AD9F-5D1A-4CFF-95BB-C1622602C879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entrypoint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8B07D4A-9BF1-48A2-A97E-5ED83A4BD7B0}"/>
              </a:ext>
            </a:extLst>
          </p:cNvPr>
          <p:cNvSpPr>
            <a:spLocks noGrp="1"/>
          </p:cNvSpPr>
          <p:nvPr/>
        </p:nvSpPr>
        <p:spPr>
          <a:xfrm>
            <a:off x="2266950" y="2009775"/>
            <a:ext cx="2743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Controllers REST: ordenes, usuarios, reportes admin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6D3C17D-9313-4228-8D79-3FB3FFF9A816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4591050" cy="590550"/>
          </a:xfrm>
          <a:prstGeom prst="rect">
            <a:avLst/>
          </a:prstGeom>
          <a:solidFill>
            <a:srgbClr val="CFE0FF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DF7F33E-7DAE-42ED-B3B0-ABE44CDAEFE2}"/>
              </a:ext>
            </a:extLst>
          </p:cNvPr>
          <p:cNvSpPr>
            <a:spLocks noGrp="1"/>
          </p:cNvSpPr>
          <p:nvPr/>
        </p:nvSpPr>
        <p:spPr>
          <a:xfrm>
            <a:off x="876300" y="2838450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B930D9D-7B0B-46E5-8D06-16916E301680}"/>
              </a:ext>
            </a:extLst>
          </p:cNvPr>
          <p:cNvSpPr>
            <a:spLocks noGrp="1"/>
          </p:cNvSpPr>
          <p:nvPr/>
        </p:nvSpPr>
        <p:spPr>
          <a:xfrm>
            <a:off x="2266950" y="2847975"/>
            <a:ext cx="2743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Casos de uso y servicios: orquestan reglas sin depender de frameworks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FF53769-B768-4EE3-915E-FF7D7C126A60}"/>
              </a:ext>
            </a:extLst>
          </p:cNvPr>
          <p:cNvSpPr>
            <a:spLocks noGrp="1"/>
          </p:cNvSpPr>
          <p:nvPr/>
        </p:nvSpPr>
        <p:spPr>
          <a:xfrm>
            <a:off x="666750" y="3562350"/>
            <a:ext cx="4591050" cy="590550"/>
          </a:xfrm>
          <a:prstGeom prst="rect">
            <a:avLst/>
          </a:prstGeom>
          <a:solidFill>
            <a:srgbClr val="FFF0D5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3F54B76-EA2B-41E3-9CC8-B4DB4F96C055}"/>
              </a:ext>
            </a:extLst>
          </p:cNvPr>
          <p:cNvSpPr>
            <a:spLocks noGrp="1"/>
          </p:cNvSpPr>
          <p:nvPr/>
        </p:nvSpPr>
        <p:spPr>
          <a:xfrm>
            <a:off x="876300" y="3676650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domain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3C8C94E-3CF2-4064-A6B7-7AD8000AFFD8}"/>
              </a:ext>
            </a:extLst>
          </p:cNvPr>
          <p:cNvSpPr>
            <a:spLocks noGrp="1"/>
          </p:cNvSpPr>
          <p:nvPr/>
        </p:nvSpPr>
        <p:spPr>
          <a:xfrm>
            <a:off x="2266950" y="3686175"/>
            <a:ext cx="2743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Entidades y contratos del negocio: ordenes, usuarios, mesas, productos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E6306F9-CDDC-4C18-B3DD-DE6CB7182E4E}"/>
              </a:ext>
            </a:extLst>
          </p:cNvPr>
          <p:cNvSpPr>
            <a:spLocks noGrp="1"/>
          </p:cNvSpPr>
          <p:nvPr/>
        </p:nvSpPr>
        <p:spPr>
          <a:xfrm>
            <a:off x="666750" y="4400550"/>
            <a:ext cx="4591050" cy="590550"/>
          </a:xfrm>
          <a:prstGeom prst="rect">
            <a:avLst/>
          </a:prstGeom>
          <a:solidFill>
            <a:srgbClr val="EFE7FF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B5E6498-229A-44E7-946A-E5E2ADFF6132}"/>
              </a:ext>
            </a:extLst>
          </p:cNvPr>
          <p:cNvSpPr>
            <a:spLocks noGrp="1"/>
          </p:cNvSpPr>
          <p:nvPr/>
        </p:nvSpPr>
        <p:spPr>
          <a:xfrm>
            <a:off x="876300" y="4514850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infrastructure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692F653-DA3B-4D74-A8B9-7C695B225C6F}"/>
              </a:ext>
            </a:extLst>
          </p:cNvPr>
          <p:cNvSpPr>
            <a:spLocks noGrp="1"/>
          </p:cNvSpPr>
          <p:nvPr/>
        </p:nvSpPr>
        <p:spPr>
          <a:xfrm>
            <a:off x="2266950" y="4524375"/>
            <a:ext cx="27432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JPA repositories, adaptadores externos, persistencia MySQL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EEB3067-CD6C-47D8-B68D-7411E671C97A}"/>
              </a:ext>
            </a:extLst>
          </p:cNvPr>
          <p:cNvSpPr>
            <a:spLocks noGrp="1"/>
          </p:cNvSpPr>
          <p:nvPr/>
        </p:nvSpPr>
        <p:spPr>
          <a:xfrm>
            <a:off x="6715125" y="1885950"/>
            <a:ext cx="1619250" cy="266700"/>
          </a:xfrm>
          <a:prstGeom prst="rect">
            <a:avLst/>
          </a:prstGeom>
          <a:solidFill>
            <a:srgbClr val="CFE0FF"/>
          </a:solidFill>
          <a:ln w="0">
            <a:solidFill>
              <a:srgbClr val="CFE0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CE5E135-91AD-47AE-8A14-0CA2152E9A3A}"/>
              </a:ext>
            </a:extLst>
          </p:cNvPr>
          <p:cNvSpPr>
            <a:spLocks noGrp="1"/>
          </p:cNvSpPr>
          <p:nvPr/>
        </p:nvSpPr>
        <p:spPr>
          <a:xfrm>
            <a:off x="6829425" y="1952625"/>
            <a:ext cx="1390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Report endpoint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9670BD1-0AB6-4334-9BCE-7B83FAD3A299}"/>
              </a:ext>
            </a:extLst>
          </p:cNvPr>
          <p:cNvSpPr>
            <a:spLocks noGrp="1"/>
          </p:cNvSpPr>
          <p:nvPr/>
        </p:nvSpPr>
        <p:spPr>
          <a:xfrm>
            <a:off x="6705600" y="2400300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F92CB59-204F-49E3-9D30-C765D269787E}"/>
              </a:ext>
            </a:extLst>
          </p:cNvPr>
          <p:cNvSpPr>
            <a:spLocks noGrp="1"/>
          </p:cNvSpPr>
          <p:nvPr/>
        </p:nvSpPr>
        <p:spPr>
          <a:xfrm>
            <a:off x="6877050" y="2333625"/>
            <a:ext cx="3829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AdminReportController llama al ReportService por HTTP.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5DF4CFD-7C4F-4218-B255-CE4991DED16F}"/>
              </a:ext>
            </a:extLst>
          </p:cNvPr>
          <p:cNvSpPr>
            <a:spLocks noGrp="1"/>
          </p:cNvSpPr>
          <p:nvPr/>
        </p:nvSpPr>
        <p:spPr>
          <a:xfrm>
            <a:off x="6715125" y="2990850"/>
            <a:ext cx="1095375" cy="266700"/>
          </a:xfrm>
          <a:prstGeom prst="rect">
            <a:avLst/>
          </a:prstGeom>
          <a:solidFill>
            <a:srgbClr val="BFE4D1"/>
          </a:solidFill>
          <a:ln w="0">
            <a:solidFill>
              <a:srgbClr val="BFE4D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2D3DF5B-BF99-4F2F-9DB9-CA3D8948A762}"/>
              </a:ext>
            </a:extLst>
          </p:cNvPr>
          <p:cNvSpPr>
            <a:spLocks noGrp="1"/>
          </p:cNvSpPr>
          <p:nvPr/>
        </p:nvSpPr>
        <p:spPr>
          <a:xfrm>
            <a:off x="6829425" y="3057525"/>
            <a:ext cx="8667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Ordenes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BAF3908-E379-46CE-BFBA-99C4B7BA75FF}"/>
              </a:ext>
            </a:extLst>
          </p:cNvPr>
          <p:cNvSpPr>
            <a:spLocks noGrp="1"/>
          </p:cNvSpPr>
          <p:nvPr/>
        </p:nvSpPr>
        <p:spPr>
          <a:xfrm>
            <a:off x="6705600" y="3495675"/>
            <a:ext cx="66675" cy="66675"/>
          </a:xfrm>
          <a:prstGeom prst="rect">
            <a:avLst/>
          </a:prstGeom>
          <a:solidFill>
            <a:srgbClr val="2E7D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C3A96633-912F-4916-938F-7C363FB1584D}"/>
              </a:ext>
            </a:extLst>
          </p:cNvPr>
          <p:cNvSpPr>
            <a:spLocks noGrp="1"/>
          </p:cNvSpPr>
          <p:nvPr/>
        </p:nvSpPr>
        <p:spPr>
          <a:xfrm>
            <a:off x="6877050" y="3429000"/>
            <a:ext cx="3924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RestaurantTableApplicationService persiste y registra cierres de orden.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D679390F-E52C-473B-B271-565B363CA29B}"/>
              </a:ext>
            </a:extLst>
          </p:cNvPr>
          <p:cNvSpPr>
            <a:spLocks noGrp="1"/>
          </p:cNvSpPr>
          <p:nvPr/>
        </p:nvSpPr>
        <p:spPr>
          <a:xfrm>
            <a:off x="6715125" y="4095750"/>
            <a:ext cx="1095375" cy="266700"/>
          </a:xfrm>
          <a:prstGeom prst="rect">
            <a:avLst/>
          </a:prstGeom>
          <a:solidFill>
            <a:srgbClr val="FFF0D5"/>
          </a:solidFill>
          <a:ln w="0">
            <a:solidFill>
              <a:srgbClr val="FFF0D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DC2CACB-6668-4133-8561-AD03EF11E4AA}"/>
              </a:ext>
            </a:extLst>
          </p:cNvPr>
          <p:cNvSpPr>
            <a:spLocks noGrp="1"/>
          </p:cNvSpPr>
          <p:nvPr/>
        </p:nvSpPr>
        <p:spPr>
          <a:xfrm>
            <a:off x="6829425" y="4162425"/>
            <a:ext cx="8667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D58A24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58A24"/>
                </a:solidFill>
                <a:latin typeface="Aptos"/>
                <a:ea typeface="Aptos"/>
                <a:cs typeface="Aptos"/>
              </a:rPr>
              <a:t>Usuarios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AA00C0FC-9E28-4E13-91CE-5D3DECBC1ABC}"/>
              </a:ext>
            </a:extLst>
          </p:cNvPr>
          <p:cNvSpPr>
            <a:spLocks noGrp="1"/>
          </p:cNvSpPr>
          <p:nvPr/>
        </p:nvSpPr>
        <p:spPr>
          <a:xfrm>
            <a:off x="6705600" y="4600575"/>
            <a:ext cx="66675" cy="66675"/>
          </a:xfrm>
          <a:prstGeom prst="rect">
            <a:avLst/>
          </a:prstGeom>
          <a:solidFill>
            <a:srgbClr val="D58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07F7241-7037-46AB-A051-8CA7F2F84941}"/>
              </a:ext>
            </a:extLst>
          </p:cNvPr>
          <p:cNvSpPr>
            <a:spLocks noGrp="1"/>
          </p:cNvSpPr>
          <p:nvPr/>
        </p:nvSpPr>
        <p:spPr>
          <a:xfrm>
            <a:off x="6877050" y="4533900"/>
            <a:ext cx="3924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UserAdministrationApplicationService controla borrado, rol admin y reasignaciones.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6CCD392-1545-47B2-9D40-38B5AD80C79F}"/>
              </a:ext>
            </a:extLst>
          </p:cNvPr>
          <p:cNvSpPr>
            <a:spLocks noGrp="1"/>
          </p:cNvSpPr>
          <p:nvPr/>
        </p:nvSpPr>
        <p:spPr>
          <a:xfrm>
            <a:off x="6715125" y="5429250"/>
            <a:ext cx="4095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La estructura permite agregar ReportService sin mezclar la logica de reportes IA con el nucleo de ventas.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BD69961-AAF9-4975-9F83-3B80413521EF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9525"/>
          </a:xfrm>
          <a:prstGeom prst="rect">
            <a:avLst/>
          </a:prstGeom>
          <a:solidFill>
            <a:srgbClr val="D9D3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8B97AAB-B31C-4540-8083-21903A774A70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Backend_FoodTrack/src/main/java/.../entrypoint, application, domain, infrastructure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605FA5FF-16B8-4543-A235-2B1120D3B308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B7AC9415-783C-F996-877A-BA4659FD9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4842" y="324180"/>
            <a:ext cx="2462515" cy="293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90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1B8E4128-B2B5-4BDC-B724-319A628135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A79E4ED-33DA-4FD0-94E6-ED2D2ED36BBF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95250" cy="95250"/>
          </a:xfrm>
          <a:prstGeom prst="rect">
            <a:avLst/>
          </a:prstGeom>
          <a:solidFill>
            <a:srgbClr val="2E7D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A763549-CABA-43C7-B11A-FC20AEAE2001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PRODUCTO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3A06EEB-5C00-46E1-B0BF-B38A288C54A1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La demo tiene pantallas reales y un flujo manual para generar reportes.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38FF4BC-49A5-4DED-8778-6C238A796DAB}"/>
              </a:ext>
            </a:extLst>
          </p:cNvPr>
          <p:cNvSpPr>
            <a:spLocks noGrp="1"/>
          </p:cNvSpPr>
          <p:nvPr/>
        </p:nvSpPr>
        <p:spPr>
          <a:xfrm>
            <a:off x="628650" y="1714500"/>
            <a:ext cx="50101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8C1B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rcRect l="131" r="131"/>
          <a:stretch>
            <a:fillRect/>
          </a:stretch>
        </p:blipFill>
        <p:spPr>
          <a:xfrm>
            <a:off x="666750" y="1752600"/>
            <a:ext cx="4933950" cy="27813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158DEE9C-D3C2-4A63-B47B-E18502C6537B}"/>
              </a:ext>
            </a:extLst>
          </p:cNvPr>
          <p:cNvSpPr>
            <a:spLocks noGrp="1"/>
          </p:cNvSpPr>
          <p:nvPr/>
        </p:nvSpPr>
        <p:spPr>
          <a:xfrm>
            <a:off x="666750" y="4629150"/>
            <a:ext cx="493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Home del sistema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44B2B71-B969-4467-8AA2-E8B9AD0CF84C}"/>
              </a:ext>
            </a:extLst>
          </p:cNvPr>
          <p:cNvSpPr>
            <a:spLocks noGrp="1"/>
          </p:cNvSpPr>
          <p:nvPr/>
        </p:nvSpPr>
        <p:spPr>
          <a:xfrm>
            <a:off x="6286500" y="1714500"/>
            <a:ext cx="4457700" cy="2533650"/>
          </a:xfrm>
          <a:prstGeom prst="rect">
            <a:avLst/>
          </a:prstGeom>
          <a:solidFill>
            <a:srgbClr val="FFFFFF"/>
          </a:solidFill>
          <a:ln w="9525">
            <a:solidFill>
              <a:srgbClr val="C8C1B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rcRect t="121" b="121"/>
          <a:stretch>
            <a:fillRect/>
          </a:stretch>
        </p:blipFill>
        <p:spPr>
          <a:xfrm>
            <a:off x="6324600" y="1752600"/>
            <a:ext cx="4381500" cy="245745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CF69EA71-BEE4-4C85-98C8-3A615B3ECF2E}"/>
              </a:ext>
            </a:extLst>
          </p:cNvPr>
          <p:cNvSpPr>
            <a:spLocks noGrp="1"/>
          </p:cNvSpPr>
          <p:nvPr/>
        </p:nvSpPr>
        <p:spPr>
          <a:xfrm>
            <a:off x="6324600" y="4305300"/>
            <a:ext cx="438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Login de FoodTrack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0177AEE-B05B-418A-8529-FD1DE2688452}"/>
              </a:ext>
            </a:extLst>
          </p:cNvPr>
          <p:cNvSpPr>
            <a:spLocks noGrp="1"/>
          </p:cNvSpPr>
          <p:nvPr/>
        </p:nvSpPr>
        <p:spPr>
          <a:xfrm>
            <a:off x="819150" y="5334000"/>
            <a:ext cx="9525" cy="5334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E1A7D66-382C-47C2-B75D-EA8FB854CE3F}"/>
              </a:ext>
            </a:extLst>
          </p:cNvPr>
          <p:cNvSpPr>
            <a:spLocks noGrp="1"/>
          </p:cNvSpPr>
          <p:nvPr/>
        </p:nvSpPr>
        <p:spPr>
          <a:xfrm>
            <a:off x="952500" y="5295900"/>
            <a:ext cx="2724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1 click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243DE67-E438-4A05-A47E-D1D223DB18EF}"/>
              </a:ext>
            </a:extLst>
          </p:cNvPr>
          <p:cNvSpPr>
            <a:spLocks noGrp="1"/>
          </p:cNvSpPr>
          <p:nvPr/>
        </p:nvSpPr>
        <p:spPr>
          <a:xfrm>
            <a:off x="952500" y="5657850"/>
            <a:ext cx="2724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Administrador dispara reporte desde historial de ventas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85D868E-5725-4037-8F6A-287D2CBFBA0E}"/>
              </a:ext>
            </a:extLst>
          </p:cNvPr>
          <p:cNvSpPr>
            <a:spLocks noGrp="1"/>
          </p:cNvSpPr>
          <p:nvPr/>
        </p:nvSpPr>
        <p:spPr>
          <a:xfrm>
            <a:off x="4210050" y="5334000"/>
            <a:ext cx="9525" cy="533400"/>
          </a:xfrm>
          <a:prstGeom prst="rect">
            <a:avLst/>
          </a:prstGeom>
          <a:solidFill>
            <a:srgbClr val="2E7D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639598A-4908-4C50-8E5C-BAEF8A2D4CE2}"/>
              </a:ext>
            </a:extLst>
          </p:cNvPr>
          <p:cNvSpPr>
            <a:spLocks noGrp="1"/>
          </p:cNvSpPr>
          <p:nvPr/>
        </p:nvSpPr>
        <p:spPr>
          <a:xfrm>
            <a:off x="4343400" y="5295900"/>
            <a:ext cx="2724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60 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9ACD0BF-5767-4BF7-86CA-3C9DC62E4F7B}"/>
              </a:ext>
            </a:extLst>
          </p:cNvPr>
          <p:cNvSpPr>
            <a:spLocks noGrp="1"/>
          </p:cNvSpPr>
          <p:nvPr/>
        </p:nvSpPr>
        <p:spPr>
          <a:xfrm>
            <a:off x="4343400" y="5657850"/>
            <a:ext cx="2724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Toast flotante se puede cerrar o desaparece solo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9C15042-7986-4D1A-BB10-DF455B0EFFF7}"/>
              </a:ext>
            </a:extLst>
          </p:cNvPr>
          <p:cNvSpPr>
            <a:spLocks noGrp="1"/>
          </p:cNvSpPr>
          <p:nvPr/>
        </p:nvSpPr>
        <p:spPr>
          <a:xfrm>
            <a:off x="7600950" y="5334000"/>
            <a:ext cx="9525" cy="533400"/>
          </a:xfrm>
          <a:prstGeom prst="rect">
            <a:avLst/>
          </a:prstGeom>
          <a:solidFill>
            <a:srgbClr val="D58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8E80C0F-8DC2-4BC9-99C8-5029F332647B}"/>
              </a:ext>
            </a:extLst>
          </p:cNvPr>
          <p:cNvSpPr>
            <a:spLocks noGrp="1"/>
          </p:cNvSpPr>
          <p:nvPr/>
        </p:nvSpPr>
        <p:spPr>
          <a:xfrm>
            <a:off x="7734300" y="5295900"/>
            <a:ext cx="2724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N admins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FC96335-A188-413C-A867-C70F98027223}"/>
              </a:ext>
            </a:extLst>
          </p:cNvPr>
          <p:cNvSpPr>
            <a:spLocks noGrp="1"/>
          </p:cNvSpPr>
          <p:nvPr/>
        </p:nvSpPr>
        <p:spPr>
          <a:xfrm>
            <a:off x="7734300" y="5657850"/>
            <a:ext cx="2724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Envio a todos los correos admin reales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20A4AD3-D122-490B-8B11-91A77A424CEC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9525"/>
          </a:xfrm>
          <a:prstGeom prst="rect">
            <a:avLst/>
          </a:prstGeom>
          <a:solidFill>
            <a:srgbClr val="D9D3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EBE93C3-C886-48A5-AAC3-70CD52BCCC4E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Capturas generadas desde http://localhost:4200/home y /login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6A1402C-D271-4D94-9300-3620697858BB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57336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2FF464B2-B66C-487F-A5D8-95E3A09B32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F8CF97C-405F-48CF-B8F6-154DD9A9363D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95250" cy="95250"/>
          </a:xfrm>
          <a:prstGeom prst="rect">
            <a:avLst/>
          </a:prstGeom>
          <a:solidFill>
            <a:srgbClr val="D58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C414945-4E4B-4582-9ADD-681A55CD2C43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DE6F3"/>
                </a:solidFill>
                <a:latin typeface="Aptos"/>
                <a:ea typeface="Aptos"/>
                <a:cs typeface="Aptos"/>
              </a:rPr>
              <a:t>API EXTERNA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41BC85E-4D7F-4EC9-A98E-AD371832DF08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ReportService orquesta datos reales, IA, fallback y correo.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EE69062-7D48-47C1-8D24-B20850EFFC2E}"/>
              </a:ext>
            </a:extLst>
          </p:cNvPr>
          <p:cNvSpPr>
            <a:spLocks noGrp="1"/>
          </p:cNvSpPr>
          <p:nvPr/>
        </p:nvSpPr>
        <p:spPr>
          <a:xfrm>
            <a:off x="552450" y="2781300"/>
            <a:ext cx="1952625" cy="1181100"/>
          </a:xfrm>
          <a:prstGeom prst="rect">
            <a:avLst/>
          </a:prstGeom>
          <a:solidFill>
            <a:srgbClr val="EAF4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E0BDB8D-80D1-4565-87AB-EFF77485C641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16859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1. Request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B48ADAA-5A36-4836-A28F-DE80CC0DA98C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1685925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Manual: POST /api/reports/generate-and-send</a:t>
            </a:r>
          </a:p>
          <a:p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Automatico: @Scheduled 20:00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03D30C8-EE8F-47DC-8285-DFBDEB0572C9}"/>
              </a:ext>
            </a:extLst>
          </p:cNvPr>
          <p:cNvSpPr>
            <a:spLocks noGrp="1"/>
          </p:cNvSpPr>
          <p:nvPr/>
        </p:nvSpPr>
        <p:spPr>
          <a:xfrm>
            <a:off x="3009900" y="2781300"/>
            <a:ext cx="1952625" cy="1181100"/>
          </a:xfrm>
          <a:prstGeom prst="rect">
            <a:avLst/>
          </a:prstGeom>
          <a:solidFill>
            <a:srgbClr val="E9F7EF"/>
          </a:solidFill>
          <a:ln w="9525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E39964D-05DB-4B63-B75F-DDDD87AB77A4}"/>
              </a:ext>
            </a:extLst>
          </p:cNvPr>
          <p:cNvSpPr>
            <a:spLocks noGrp="1"/>
          </p:cNvSpPr>
          <p:nvPr/>
        </p:nvSpPr>
        <p:spPr>
          <a:xfrm>
            <a:off x="3143250" y="2895600"/>
            <a:ext cx="16859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2. SalesDataService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DE3A021-F97A-4E8B-9A4F-839D34ACCD7C}"/>
              </a:ext>
            </a:extLst>
          </p:cNvPr>
          <p:cNvSpPr>
            <a:spLocks noGrp="1"/>
          </p:cNvSpPr>
          <p:nvPr/>
        </p:nvSpPr>
        <p:spPr>
          <a:xfrm>
            <a:off x="3143250" y="3162300"/>
            <a:ext cx="1685925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Consulta MySQL foodtrack por fecha y filtra admins validos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AA325F6-EF07-43CD-9D6C-179DB6999FF2}"/>
              </a:ext>
            </a:extLst>
          </p:cNvPr>
          <p:cNvSpPr>
            <a:spLocks noGrp="1"/>
          </p:cNvSpPr>
          <p:nvPr/>
        </p:nvSpPr>
        <p:spPr>
          <a:xfrm>
            <a:off x="5467350" y="2781300"/>
            <a:ext cx="1952625" cy="1181100"/>
          </a:xfrm>
          <a:prstGeom prst="rect">
            <a:avLst/>
          </a:prstGeom>
          <a:solidFill>
            <a:srgbClr val="EAF4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E71314-3E5E-4733-956B-83673BE57EC9}"/>
              </a:ext>
            </a:extLst>
          </p:cNvPr>
          <p:cNvSpPr>
            <a:spLocks noGrp="1"/>
          </p:cNvSpPr>
          <p:nvPr/>
        </p:nvSpPr>
        <p:spPr>
          <a:xfrm>
            <a:off x="5600700" y="2895600"/>
            <a:ext cx="16859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3. OpenAIService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1519CCC-A378-4670-81BF-8389AE82F9A8}"/>
              </a:ext>
            </a:extLst>
          </p:cNvPr>
          <p:cNvSpPr>
            <a:spLocks noGrp="1"/>
          </p:cNvSpPr>
          <p:nvPr/>
        </p:nvSpPr>
        <p:spPr>
          <a:xfrm>
            <a:off x="5600700" y="3162300"/>
            <a:ext cx="1685925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Genera reporte ejecutivo; si falla, produce reporte basico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53BC7DD-9CCF-48CA-ACAC-1683678665D6}"/>
              </a:ext>
            </a:extLst>
          </p:cNvPr>
          <p:cNvSpPr>
            <a:spLocks noGrp="1"/>
          </p:cNvSpPr>
          <p:nvPr/>
        </p:nvSpPr>
        <p:spPr>
          <a:xfrm>
            <a:off x="7924800" y="2781300"/>
            <a:ext cx="1952625" cy="1181100"/>
          </a:xfrm>
          <a:prstGeom prst="rect">
            <a:avLst/>
          </a:prstGeom>
          <a:solidFill>
            <a:srgbClr val="FFF0D5"/>
          </a:solidFill>
          <a:ln w="9525">
            <a:solidFill>
              <a:srgbClr val="D58A2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BE43F90-595C-4791-BD33-1141EF82D1B3}"/>
              </a:ext>
            </a:extLst>
          </p:cNvPr>
          <p:cNvSpPr>
            <a:spLocks noGrp="1"/>
          </p:cNvSpPr>
          <p:nvPr/>
        </p:nvSpPr>
        <p:spPr>
          <a:xfrm>
            <a:off x="8058150" y="2895600"/>
            <a:ext cx="16859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4. EmailService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0611705-9298-47AF-B848-BE9BFA1D185C}"/>
              </a:ext>
            </a:extLst>
          </p:cNvPr>
          <p:cNvSpPr>
            <a:spLocks noGrp="1"/>
          </p:cNvSpPr>
          <p:nvPr/>
        </p:nvSpPr>
        <p:spPr>
          <a:xfrm>
            <a:off x="8058150" y="3162300"/>
            <a:ext cx="1685925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SMTP Gmail envia el reporte a cada administrador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6B52702-E1FC-489D-8882-DF11E056043D}"/>
              </a:ext>
            </a:extLst>
          </p:cNvPr>
          <p:cNvSpPr>
            <a:spLocks noGrp="1"/>
          </p:cNvSpPr>
          <p:nvPr/>
        </p:nvSpPr>
        <p:spPr>
          <a:xfrm>
            <a:off x="10306050" y="2781300"/>
            <a:ext cx="1333500" cy="1181100"/>
          </a:xfrm>
          <a:prstGeom prst="rect">
            <a:avLst/>
          </a:prstGeom>
          <a:solidFill>
            <a:srgbClr val="F8E2DF"/>
          </a:solidFill>
          <a:ln w="9525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1B9F0A4-8378-4ECA-B7C3-0B455806C9B4}"/>
              </a:ext>
            </a:extLst>
          </p:cNvPr>
          <p:cNvSpPr>
            <a:spLocks noGrp="1"/>
          </p:cNvSpPr>
          <p:nvPr/>
        </p:nvSpPr>
        <p:spPr>
          <a:xfrm>
            <a:off x="10439400" y="2895600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5. Resultado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3B894B7-8DF4-4598-91D0-F9310D64594D}"/>
              </a:ext>
            </a:extLst>
          </p:cNvPr>
          <p:cNvSpPr>
            <a:spLocks noGrp="1"/>
          </p:cNvSpPr>
          <p:nvPr/>
        </p:nvSpPr>
        <p:spPr>
          <a:xfrm>
            <a:off x="10439400" y="3162300"/>
            <a:ext cx="10668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JSON de estado y logs con exito/fallo por destinatario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A24FF0E-2CD3-48EE-B4F2-3047028318B1}"/>
              </a:ext>
            </a:extLst>
          </p:cNvPr>
          <p:cNvSpPr>
            <a:spLocks noGrp="1"/>
          </p:cNvSpPr>
          <p:nvPr/>
        </p:nvSpPr>
        <p:spPr>
          <a:xfrm>
            <a:off x="2505075" y="3371850"/>
            <a:ext cx="504825" cy="190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862F711-969D-4AC2-97BA-2D8EA787804D}"/>
              </a:ext>
            </a:extLst>
          </p:cNvPr>
          <p:cNvSpPr>
            <a:spLocks noGrp="1"/>
          </p:cNvSpPr>
          <p:nvPr/>
        </p:nvSpPr>
        <p:spPr>
          <a:xfrm>
            <a:off x="4962525" y="3371850"/>
            <a:ext cx="504825" cy="190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BCF3AA9-9C82-49EC-A984-9DC13DCCBC92}"/>
              </a:ext>
            </a:extLst>
          </p:cNvPr>
          <p:cNvSpPr>
            <a:spLocks noGrp="1"/>
          </p:cNvSpPr>
          <p:nvPr/>
        </p:nvSpPr>
        <p:spPr>
          <a:xfrm>
            <a:off x="7419975" y="3371850"/>
            <a:ext cx="504825" cy="190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EBA9C23-1D51-427D-ADF2-90BD6C582DFD}"/>
              </a:ext>
            </a:extLst>
          </p:cNvPr>
          <p:cNvSpPr>
            <a:spLocks noGrp="1"/>
          </p:cNvSpPr>
          <p:nvPr/>
        </p:nvSpPr>
        <p:spPr>
          <a:xfrm>
            <a:off x="9877425" y="3371850"/>
            <a:ext cx="428625" cy="190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42DD0B2-7365-4A43-A60E-BD337EBE1B1B}"/>
              </a:ext>
            </a:extLst>
          </p:cNvPr>
          <p:cNvSpPr>
            <a:spLocks noGrp="1"/>
          </p:cNvSpPr>
          <p:nvPr/>
        </p:nvSpPr>
        <p:spPr>
          <a:xfrm>
            <a:off x="1314450" y="4810125"/>
            <a:ext cx="823912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@Scheduled(cron="${reports.scheduler.cron:0 0 20 * * *}", zone="America/Bogota")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12A8597-D413-41F4-B2C0-D55F11854A2E}"/>
              </a:ext>
            </a:extLst>
          </p:cNvPr>
          <p:cNvSpPr>
            <a:spLocks noGrp="1"/>
          </p:cNvSpPr>
          <p:nvPr/>
        </p:nvSpPr>
        <p:spPr>
          <a:xfrm>
            <a:off x="1314450" y="5219700"/>
            <a:ext cx="8572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6F3"/>
                </a:solidFill>
                <a:latin typeface="Aptos"/>
                <a:ea typeface="Aptos"/>
                <a:cs typeface="Aptos"/>
              </a:rPr>
              <a:t>Decisiones clave: configuracion por variables de entorno, ddl-auto validate, open-in-view false, errores SMTP detallados.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E65B4E8-2570-4F3E-AE7C-33F04B05E03F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9525"/>
          </a:xfrm>
          <a:prstGeom prst="rect">
            <a:avLst/>
          </a:prstGeom>
          <a:solidFill>
            <a:srgbClr val="2A344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A3795B7-AB72-4AB3-8685-E94DA67E19D7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AAB6C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AB6C8"/>
                </a:solidFill>
                <a:latin typeface="Aptos"/>
                <a:ea typeface="Aptos"/>
                <a:cs typeface="Aptos"/>
              </a:rPr>
              <a:t>ReportController, ReportProcessingService, SalesDataService, OpenAIService, EmailService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8D2D9C6-8143-41EA-98DB-0308D25013B8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F7A5F8A2-1937-C749-1205-7FB423CA8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163" y="4176710"/>
            <a:ext cx="2223311" cy="195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509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>
            <a:extLst>
              <a:ext uri="{FF2B5EF4-FFF2-40B4-BE49-F238E27FC236}">
                <a16:creationId xmlns:a16="http://schemas.microsoft.com/office/drawing/2014/main" id="{C3B5FD4B-FFD1-41CF-88E5-33F240C5C0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AF3276E-D237-4F42-B400-D1A929006DB2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95250" cy="95250"/>
          </a:xfrm>
          <a:prstGeom prst="rect">
            <a:avLst/>
          </a:prstGeom>
          <a:solidFill>
            <a:srgbClr val="2E7D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DACD23A-2697-4389-B3AA-6A0384B06F0A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DATOS Y REPORTE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243C2A4-1757-4575-95D0-EDE456E2495E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El reporte diario se calcula desde tablas operativas, no desde datos quemados.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8B8F5C2-B161-41AA-A73F-CEF2DCEB671F}"/>
              </a:ext>
            </a:extLst>
          </p:cNvPr>
          <p:cNvSpPr>
            <a:spLocks noGrp="1"/>
          </p:cNvSpPr>
          <p:nvPr/>
        </p:nvSpPr>
        <p:spPr>
          <a:xfrm>
            <a:off x="723900" y="2095500"/>
            <a:ext cx="16383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5CEDD84-838B-4210-AAAD-9B5BB92591DE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orders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70DCCC-6153-44CC-A808-C9CC019D93C1}"/>
              </a:ext>
            </a:extLst>
          </p:cNvPr>
          <p:cNvSpPr>
            <a:spLocks noGrp="1"/>
          </p:cNvSpPr>
          <p:nvPr/>
        </p:nvSpPr>
        <p:spPr>
          <a:xfrm>
            <a:off x="857250" y="2476500"/>
            <a:ext cx="1371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fecha, mesa/cliente, estado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0357AC5-E6B4-4A5A-B0C9-B802EA0BD1AA}"/>
              </a:ext>
            </a:extLst>
          </p:cNvPr>
          <p:cNvSpPr>
            <a:spLocks noGrp="1"/>
          </p:cNvSpPr>
          <p:nvPr/>
        </p:nvSpPr>
        <p:spPr>
          <a:xfrm>
            <a:off x="2819400" y="2095500"/>
            <a:ext cx="16383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6B266E5-844B-44B7-96F4-CC75344A491C}"/>
              </a:ext>
            </a:extLst>
          </p:cNvPr>
          <p:cNvSpPr>
            <a:spLocks noGrp="1"/>
          </p:cNvSpPr>
          <p:nvPr/>
        </p:nvSpPr>
        <p:spPr>
          <a:xfrm>
            <a:off x="2952750" y="22098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order_items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DA07494-4961-4B51-AB91-90E97E0B0D5B}"/>
              </a:ext>
            </a:extLst>
          </p:cNvPr>
          <p:cNvSpPr>
            <a:spLocks noGrp="1"/>
          </p:cNvSpPr>
          <p:nvPr/>
        </p:nvSpPr>
        <p:spPr>
          <a:xfrm>
            <a:off x="2952750" y="2476500"/>
            <a:ext cx="1371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cantidades, subtotales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2F02B2D-14A0-4BDF-B2FA-9E0096526197}"/>
              </a:ext>
            </a:extLst>
          </p:cNvPr>
          <p:cNvSpPr>
            <a:spLocks noGrp="1"/>
          </p:cNvSpPr>
          <p:nvPr/>
        </p:nvSpPr>
        <p:spPr>
          <a:xfrm>
            <a:off x="4914900" y="2095500"/>
            <a:ext cx="16383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B553247-10AF-4846-B206-FFB067F9FED0}"/>
              </a:ext>
            </a:extLst>
          </p:cNvPr>
          <p:cNvSpPr>
            <a:spLocks noGrp="1"/>
          </p:cNvSpPr>
          <p:nvPr/>
        </p:nvSpPr>
        <p:spPr>
          <a:xfrm>
            <a:off x="5048250" y="22098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products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93657EB-2930-4C47-8819-7718C30861A1}"/>
              </a:ext>
            </a:extLst>
          </p:cNvPr>
          <p:cNvSpPr>
            <a:spLocks noGrp="1"/>
          </p:cNvSpPr>
          <p:nvPr/>
        </p:nvSpPr>
        <p:spPr>
          <a:xfrm>
            <a:off x="5048250" y="2476500"/>
            <a:ext cx="1371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nombre del producto top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5EABED7-D238-48D8-BF03-CA0BA4ABB351}"/>
              </a:ext>
            </a:extLst>
          </p:cNvPr>
          <p:cNvSpPr>
            <a:spLocks noGrp="1"/>
          </p:cNvSpPr>
          <p:nvPr/>
        </p:nvSpPr>
        <p:spPr>
          <a:xfrm>
            <a:off x="7010400" y="2095500"/>
            <a:ext cx="16383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58A2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06EA2F7-DF68-46EC-A3EA-F3F50132B7C2}"/>
              </a:ext>
            </a:extLst>
          </p:cNvPr>
          <p:cNvSpPr>
            <a:spLocks noGrp="1"/>
          </p:cNvSpPr>
          <p:nvPr/>
        </p:nvSpPr>
        <p:spPr>
          <a:xfrm>
            <a:off x="7143750" y="220980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app_users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E700076-4534-409D-9D96-82980A8006D9}"/>
              </a:ext>
            </a:extLst>
          </p:cNvPr>
          <p:cNvSpPr>
            <a:spLocks noGrp="1"/>
          </p:cNvSpPr>
          <p:nvPr/>
        </p:nvSpPr>
        <p:spPr>
          <a:xfrm>
            <a:off x="7143750" y="2476500"/>
            <a:ext cx="1371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administradores destino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D4B7C01-2E6E-4148-AC7A-1BA5FFF195CE}"/>
              </a:ext>
            </a:extLst>
          </p:cNvPr>
          <p:cNvSpPr>
            <a:spLocks noGrp="1"/>
          </p:cNvSpPr>
          <p:nvPr/>
        </p:nvSpPr>
        <p:spPr>
          <a:xfrm>
            <a:off x="9220200" y="1809750"/>
            <a:ext cx="1809750" cy="1428750"/>
          </a:xfrm>
          <a:prstGeom prst="rect">
            <a:avLst/>
          </a:prstGeom>
          <a:solidFill>
            <a:srgbClr val="CFE0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D37C112-6608-4726-86D3-FDFF452F67DA}"/>
              </a:ext>
            </a:extLst>
          </p:cNvPr>
          <p:cNvSpPr>
            <a:spLocks noGrp="1"/>
          </p:cNvSpPr>
          <p:nvPr/>
        </p:nvSpPr>
        <p:spPr>
          <a:xfrm>
            <a:off x="9429750" y="2057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DailySalesReport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AFC3801-7C4C-4A12-AB89-F5C73360FE6E}"/>
              </a:ext>
            </a:extLst>
          </p:cNvPr>
          <p:cNvSpPr>
            <a:spLocks noGrp="1"/>
          </p:cNvSpPr>
          <p:nvPr/>
        </p:nvSpPr>
        <p:spPr>
          <a:xfrm>
            <a:off x="9429750" y="2362200"/>
            <a:ext cx="14287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totalSales</a:t>
            </a:r>
          </a:p>
          <a:p>
            <a:pPr algn="l">
              <a:defRPr sz="76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orders</a:t>
            </a:r>
          </a:p>
          <a:p>
            <a:pPr algn="l">
              <a:defRPr sz="76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uniqueCustomers</a:t>
            </a:r>
          </a:p>
          <a:p>
            <a:pPr algn="l">
              <a:defRPr sz="76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averageOrder</a:t>
            </a:r>
          </a:p>
          <a:p>
            <a:pPr algn="l">
              <a:defRPr sz="76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topProduct</a:t>
            </a:r>
          </a:p>
          <a:p>
            <a:pPr algn="l">
              <a:defRPr sz="765" b="0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adminEmails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8267C88-6600-4028-A902-EDA38E5177CA}"/>
              </a:ext>
            </a:extLst>
          </p:cNvPr>
          <p:cNvSpPr>
            <a:spLocks noGrp="1"/>
          </p:cNvSpPr>
          <p:nvPr/>
        </p:nvSpPr>
        <p:spPr>
          <a:xfrm>
            <a:off x="1066800" y="4286250"/>
            <a:ext cx="9525" cy="533400"/>
          </a:xfrm>
          <a:prstGeom prst="rect">
            <a:avLst/>
          </a:prstGeom>
          <a:solidFill>
            <a:srgbClr val="2E7D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FF8B111-7C68-4D3C-91F8-8FA790840D6A}"/>
              </a:ext>
            </a:extLst>
          </p:cNvPr>
          <p:cNvSpPr>
            <a:spLocks noGrp="1"/>
          </p:cNvSpPr>
          <p:nvPr/>
        </p:nvSpPr>
        <p:spPr>
          <a:xfrm>
            <a:off x="1200150" y="4248150"/>
            <a:ext cx="2057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$199.000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EF5324E-9586-4B44-BBE6-75ECCBE622B7}"/>
              </a:ext>
            </a:extLst>
          </p:cNvPr>
          <p:cNvSpPr>
            <a:spLocks noGrp="1"/>
          </p:cNvSpPr>
          <p:nvPr/>
        </p:nvSpPr>
        <p:spPr>
          <a:xfrm>
            <a:off x="1200150" y="4610100"/>
            <a:ext cx="2057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Ventas detectadas en prueba local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01C6506-5627-43FF-B8BB-1283E500D186}"/>
              </a:ext>
            </a:extLst>
          </p:cNvPr>
          <p:cNvSpPr>
            <a:spLocks noGrp="1"/>
          </p:cNvSpPr>
          <p:nvPr/>
        </p:nvSpPr>
        <p:spPr>
          <a:xfrm>
            <a:off x="3905250" y="4286250"/>
            <a:ext cx="9525" cy="5334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5198CE4F-E1C5-459B-BB94-2814DA4D75D1}"/>
              </a:ext>
            </a:extLst>
          </p:cNvPr>
          <p:cNvSpPr>
            <a:spLocks noGrp="1"/>
          </p:cNvSpPr>
          <p:nvPr/>
        </p:nvSpPr>
        <p:spPr>
          <a:xfrm>
            <a:off x="4038600" y="4248150"/>
            <a:ext cx="1866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899AF8D-AD50-49DE-B64E-EE712E10097C}"/>
              </a:ext>
            </a:extLst>
          </p:cNvPr>
          <p:cNvSpPr>
            <a:spLocks noGrp="1"/>
          </p:cNvSpPr>
          <p:nvPr/>
        </p:nvSpPr>
        <p:spPr>
          <a:xfrm>
            <a:off x="4038600" y="4610100"/>
            <a:ext cx="1866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Ordenes del dia en la BD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C10E4FE-434A-4FDB-B176-2C8C9270AD87}"/>
              </a:ext>
            </a:extLst>
          </p:cNvPr>
          <p:cNvSpPr>
            <a:spLocks noGrp="1"/>
          </p:cNvSpPr>
          <p:nvPr/>
        </p:nvSpPr>
        <p:spPr>
          <a:xfrm>
            <a:off x="6496050" y="4286250"/>
            <a:ext cx="9525" cy="533400"/>
          </a:xfrm>
          <a:prstGeom prst="rect">
            <a:avLst/>
          </a:prstGeom>
          <a:solidFill>
            <a:srgbClr val="D58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078D746-56ED-4396-BF31-0CC3CDDD938F}"/>
              </a:ext>
            </a:extLst>
          </p:cNvPr>
          <p:cNvSpPr>
            <a:spLocks noGrp="1"/>
          </p:cNvSpPr>
          <p:nvPr/>
        </p:nvSpPr>
        <p:spPr>
          <a:xfrm>
            <a:off x="6629400" y="4248150"/>
            <a:ext cx="1962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Lomo de Res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0D9FF77-9367-4DE6-8D8E-2BE3006AE6C6}"/>
              </a:ext>
            </a:extLst>
          </p:cNvPr>
          <p:cNvSpPr>
            <a:spLocks noGrp="1"/>
          </p:cNvSpPr>
          <p:nvPr/>
        </p:nvSpPr>
        <p:spPr>
          <a:xfrm>
            <a:off x="6629400" y="4610100"/>
            <a:ext cx="1962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Producto mas vendido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E5EA111-AA50-4266-B4A7-4D686C7BE2A9}"/>
              </a:ext>
            </a:extLst>
          </p:cNvPr>
          <p:cNvSpPr>
            <a:spLocks noGrp="1"/>
          </p:cNvSpPr>
          <p:nvPr/>
        </p:nvSpPr>
        <p:spPr>
          <a:xfrm>
            <a:off x="9239250" y="4286250"/>
            <a:ext cx="9525" cy="533400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E830EA9E-F9B2-4984-B05F-4DB992ED64AA}"/>
              </a:ext>
            </a:extLst>
          </p:cNvPr>
          <p:cNvSpPr>
            <a:spLocks noGrp="1"/>
          </p:cNvSpPr>
          <p:nvPr/>
        </p:nvSpPr>
        <p:spPr>
          <a:xfrm>
            <a:off x="9372600" y="4248150"/>
            <a:ext cx="2057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jacob@...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5420E89-CFF5-481D-ABD3-3D725295DAC1}"/>
              </a:ext>
            </a:extLst>
          </p:cNvPr>
          <p:cNvSpPr>
            <a:spLocks noGrp="1"/>
          </p:cNvSpPr>
          <p:nvPr/>
        </p:nvSpPr>
        <p:spPr>
          <a:xfrm>
            <a:off x="9372600" y="4610100"/>
            <a:ext cx="2057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Admin real; placeholders filtrados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0E93A6F-6D98-4825-9883-4D9D91A5914F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9525"/>
          </a:xfrm>
          <a:prstGeom prst="rect">
            <a:avLst/>
          </a:prstGeom>
          <a:solidFill>
            <a:srgbClr val="D9D3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40BEE77-AA66-44DB-96FB-3B4EB953A3AD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SalesDataService: orders, order_items, products, app_users | prueba local 2026-05-02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A86DD0F5-3909-4B9D-B51B-AAC0BB4FC497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09259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 43">
            <a:extLst>
              <a:ext uri="{FF2B5EF4-FFF2-40B4-BE49-F238E27FC236}">
                <a16:creationId xmlns:a16="http://schemas.microsoft.com/office/drawing/2014/main" id="{1254CC45-A412-4114-A820-C16B2BD88B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FE90EB0-783D-4085-8D4E-929AB6CADE72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95250" cy="95250"/>
          </a:xfrm>
          <a:prstGeom prst="rect">
            <a:avLst/>
          </a:prstGeom>
          <a:solidFill>
            <a:srgbClr val="2E7D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D072808-0726-4CBE-80C3-FD4EDEE86259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12-FACTOR APPS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0E35655-86F1-461A-988E-DB4D7144A7EE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Los </a:t>
            </a:r>
            <a:r>
              <a:rPr sz="2550" b="1" dirty="0" err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factores</a:t>
            </a:r>
            <a:r>
              <a:rPr sz="2550" b="1" dirty="0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50" b="1" dirty="0" err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aparecen</a:t>
            </a:r>
            <a:r>
              <a:rPr sz="2550" b="1" dirty="0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50" b="1" dirty="0" err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aplicados</a:t>
            </a:r>
            <a:r>
              <a:rPr sz="2550" b="1" dirty="0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50" b="1" dirty="0" err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como</a:t>
            </a:r>
            <a:r>
              <a:rPr sz="2550" b="1" dirty="0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50" b="1" dirty="0" err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practicas</a:t>
            </a:r>
            <a:r>
              <a:rPr sz="2550" b="1" dirty="0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50" b="1" dirty="0" err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verificables</a:t>
            </a:r>
            <a:r>
              <a:rPr sz="2550" b="1" dirty="0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 del </a:t>
            </a:r>
            <a:r>
              <a:rPr sz="2550" b="1" dirty="0" err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proyecto</a:t>
            </a:r>
            <a:r>
              <a:rPr sz="2550" b="1" dirty="0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726C6E3-8BAF-4185-870E-870AB5726859}"/>
              </a:ext>
            </a:extLst>
          </p:cNvPr>
          <p:cNvSpPr>
            <a:spLocks noGrp="1"/>
          </p:cNvSpPr>
          <p:nvPr/>
        </p:nvSpPr>
        <p:spPr>
          <a:xfrm>
            <a:off x="742950" y="1733550"/>
            <a:ext cx="4953000" cy="495300"/>
          </a:xfrm>
          <a:prstGeom prst="rect">
            <a:avLst/>
          </a:prstGeom>
          <a:solidFill>
            <a:srgbClr val="FBFAF7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A14BDB5-27D8-478F-B763-BC085854DFEB}"/>
              </a:ext>
            </a:extLst>
          </p:cNvPr>
          <p:cNvSpPr>
            <a:spLocks noGrp="1"/>
          </p:cNvSpPr>
          <p:nvPr/>
        </p:nvSpPr>
        <p:spPr>
          <a:xfrm>
            <a:off x="895350" y="1838325"/>
            <a:ext cx="1295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Codebase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0B1D759-3630-4693-9956-8AF410471A6E}"/>
              </a:ext>
            </a:extLst>
          </p:cNvPr>
          <p:cNvSpPr>
            <a:spLocks noGrp="1"/>
          </p:cNvSpPr>
          <p:nvPr/>
        </p:nvSpPr>
        <p:spPr>
          <a:xfrm>
            <a:off x="2286000" y="182880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Monorepo Spring + frontend; ReportService separado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FFA1FA0-D381-40C2-9950-EDE7763F67C5}"/>
              </a:ext>
            </a:extLst>
          </p:cNvPr>
          <p:cNvSpPr>
            <a:spLocks noGrp="1"/>
          </p:cNvSpPr>
          <p:nvPr/>
        </p:nvSpPr>
        <p:spPr>
          <a:xfrm>
            <a:off x="742950" y="2419350"/>
            <a:ext cx="4953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846D782-830C-4B1B-A2A6-C2CD482D36BC}"/>
              </a:ext>
            </a:extLst>
          </p:cNvPr>
          <p:cNvSpPr>
            <a:spLocks noGrp="1"/>
          </p:cNvSpPr>
          <p:nvPr/>
        </p:nvSpPr>
        <p:spPr>
          <a:xfrm>
            <a:off x="895350" y="2524125"/>
            <a:ext cx="1295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Dependencies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9DC2232-3310-4422-BEFB-2C779F12584B}"/>
              </a:ext>
            </a:extLst>
          </p:cNvPr>
          <p:cNvSpPr>
            <a:spLocks noGrp="1"/>
          </p:cNvSpPr>
          <p:nvPr/>
        </p:nvSpPr>
        <p:spPr>
          <a:xfrm>
            <a:off x="2286000" y="251460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Maven/npm declarativos; MySQL/JPA/Mail/OpenAI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C74E1F3-C5D7-4734-863A-385747581798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4953000" cy="495300"/>
          </a:xfrm>
          <a:prstGeom prst="rect">
            <a:avLst/>
          </a:prstGeom>
          <a:solidFill>
            <a:srgbClr val="FBFAF7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6DAC8DD-22DD-4A70-AD34-B91B5F01BA7C}"/>
              </a:ext>
            </a:extLst>
          </p:cNvPr>
          <p:cNvSpPr>
            <a:spLocks noGrp="1"/>
          </p:cNvSpPr>
          <p:nvPr/>
        </p:nvSpPr>
        <p:spPr>
          <a:xfrm>
            <a:off x="895350" y="3209925"/>
            <a:ext cx="1295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58A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8A24"/>
                </a:solidFill>
                <a:latin typeface="Aptos"/>
                <a:ea typeface="Aptos"/>
                <a:cs typeface="Aptos"/>
              </a:rPr>
              <a:t>Config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3187148-B375-47E4-91B7-20E06EDEFC3D}"/>
              </a:ext>
            </a:extLst>
          </p:cNvPr>
          <p:cNvSpPr>
            <a:spLocks noGrp="1"/>
          </p:cNvSpPr>
          <p:nvPr/>
        </p:nvSpPr>
        <p:spPr>
          <a:xfrm>
            <a:off x="2286000" y="320040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DB, Gmail, OpenAI, scheduler por env vars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7BDE326-CE58-4B0F-A43F-6FE483302DD9}"/>
              </a:ext>
            </a:extLst>
          </p:cNvPr>
          <p:cNvSpPr>
            <a:spLocks noGrp="1"/>
          </p:cNvSpPr>
          <p:nvPr/>
        </p:nvSpPr>
        <p:spPr>
          <a:xfrm>
            <a:off x="742950" y="3790950"/>
            <a:ext cx="4953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147FE48-FCE9-4E39-980D-B058E141EADD}"/>
              </a:ext>
            </a:extLst>
          </p:cNvPr>
          <p:cNvSpPr>
            <a:spLocks noGrp="1"/>
          </p:cNvSpPr>
          <p:nvPr/>
        </p:nvSpPr>
        <p:spPr>
          <a:xfrm>
            <a:off x="895350" y="3895725"/>
            <a:ext cx="1295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Backing services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7117E94-2BFC-483A-8769-1A08155AC3FD}"/>
              </a:ext>
            </a:extLst>
          </p:cNvPr>
          <p:cNvSpPr>
            <a:spLocks noGrp="1"/>
          </p:cNvSpPr>
          <p:nvPr/>
        </p:nvSpPr>
        <p:spPr>
          <a:xfrm>
            <a:off x="2286000" y="388620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MySQL, OpenAI y SMTP tratados como servicios conectables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D1FDA48-106B-49BC-8332-C52BC5F7ADEA}"/>
              </a:ext>
            </a:extLst>
          </p:cNvPr>
          <p:cNvSpPr>
            <a:spLocks noGrp="1"/>
          </p:cNvSpPr>
          <p:nvPr/>
        </p:nvSpPr>
        <p:spPr>
          <a:xfrm>
            <a:off x="742950" y="4476750"/>
            <a:ext cx="4953000" cy="495300"/>
          </a:xfrm>
          <a:prstGeom prst="rect">
            <a:avLst/>
          </a:prstGeom>
          <a:solidFill>
            <a:srgbClr val="FBFAF7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51A1AD7-0B27-43AE-A787-EAEF08D82C50}"/>
              </a:ext>
            </a:extLst>
          </p:cNvPr>
          <p:cNvSpPr>
            <a:spLocks noGrp="1"/>
          </p:cNvSpPr>
          <p:nvPr/>
        </p:nvSpPr>
        <p:spPr>
          <a:xfrm>
            <a:off x="895350" y="4581525"/>
            <a:ext cx="1295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Build / Release / Run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9BCB0EB-8148-4120-B733-0BF883404496}"/>
              </a:ext>
            </a:extLst>
          </p:cNvPr>
          <p:cNvSpPr>
            <a:spLocks noGrp="1"/>
          </p:cNvSpPr>
          <p:nvPr/>
        </p:nvSpPr>
        <p:spPr>
          <a:xfrm>
            <a:off x="2286000" y="457200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GitHub Actions compila, prueba, empaqueta y construye imagenes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8036BB7-F683-411E-8D30-98AD37570FF3}"/>
              </a:ext>
            </a:extLst>
          </p:cNvPr>
          <p:cNvSpPr>
            <a:spLocks noGrp="1"/>
          </p:cNvSpPr>
          <p:nvPr/>
        </p:nvSpPr>
        <p:spPr>
          <a:xfrm>
            <a:off x="742950" y="5162550"/>
            <a:ext cx="4953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E5E233C-D364-47DE-8666-5CF50D8B7A0D}"/>
              </a:ext>
            </a:extLst>
          </p:cNvPr>
          <p:cNvSpPr>
            <a:spLocks noGrp="1"/>
          </p:cNvSpPr>
          <p:nvPr/>
        </p:nvSpPr>
        <p:spPr>
          <a:xfrm>
            <a:off x="895350" y="5267325"/>
            <a:ext cx="1295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58A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8A24"/>
                </a:solidFill>
                <a:latin typeface="Aptos"/>
                <a:ea typeface="Aptos"/>
                <a:cs typeface="Aptos"/>
              </a:rPr>
              <a:t>Processes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F9B9EFE-74D9-4D85-8F17-5AA97E4C99B3}"/>
              </a:ext>
            </a:extLst>
          </p:cNvPr>
          <p:cNvSpPr>
            <a:spLocks noGrp="1"/>
          </p:cNvSpPr>
          <p:nvPr/>
        </p:nvSpPr>
        <p:spPr>
          <a:xfrm>
            <a:off x="2286000" y="525780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Spring Boot stateless; estado persistido en MySQL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4926644-2391-4979-9EA6-12847BC71C94}"/>
              </a:ext>
            </a:extLst>
          </p:cNvPr>
          <p:cNvSpPr>
            <a:spLocks noGrp="1"/>
          </p:cNvSpPr>
          <p:nvPr/>
        </p:nvSpPr>
        <p:spPr>
          <a:xfrm>
            <a:off x="6362700" y="1733550"/>
            <a:ext cx="4953000" cy="495300"/>
          </a:xfrm>
          <a:prstGeom prst="rect">
            <a:avLst/>
          </a:prstGeom>
          <a:solidFill>
            <a:srgbClr val="FBFAF7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B9937DD-F621-4AD6-B626-9FA73A1FC726}"/>
              </a:ext>
            </a:extLst>
          </p:cNvPr>
          <p:cNvSpPr>
            <a:spLocks noGrp="1"/>
          </p:cNvSpPr>
          <p:nvPr/>
        </p:nvSpPr>
        <p:spPr>
          <a:xfrm>
            <a:off x="6515100" y="1838325"/>
            <a:ext cx="1295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Port binding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0852F77-4180-423A-8372-FF2C14F53E7E}"/>
              </a:ext>
            </a:extLst>
          </p:cNvPr>
          <p:cNvSpPr>
            <a:spLocks noGrp="1"/>
          </p:cNvSpPr>
          <p:nvPr/>
        </p:nvSpPr>
        <p:spPr>
          <a:xfrm>
            <a:off x="7905750" y="182880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8080 backend, 8081 ReportService, 4200 frontend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66799D9-0B91-41C9-A933-2D50E1DE8270}"/>
              </a:ext>
            </a:extLst>
          </p:cNvPr>
          <p:cNvSpPr>
            <a:spLocks noGrp="1"/>
          </p:cNvSpPr>
          <p:nvPr/>
        </p:nvSpPr>
        <p:spPr>
          <a:xfrm>
            <a:off x="6362700" y="2419350"/>
            <a:ext cx="4953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3CF1D9E-0CFF-4DCB-B120-E627ED9E75DF}"/>
              </a:ext>
            </a:extLst>
          </p:cNvPr>
          <p:cNvSpPr>
            <a:spLocks noGrp="1"/>
          </p:cNvSpPr>
          <p:nvPr/>
        </p:nvSpPr>
        <p:spPr>
          <a:xfrm>
            <a:off x="6515100" y="2524125"/>
            <a:ext cx="1295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Concurrency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378E9E2-7FD1-4A14-84C8-4BFEADA391C0}"/>
              </a:ext>
            </a:extLst>
          </p:cNvPr>
          <p:cNvSpPr>
            <a:spLocks noGrp="1"/>
          </p:cNvSpPr>
          <p:nvPr/>
        </p:nvSpPr>
        <p:spPr>
          <a:xfrm>
            <a:off x="7905750" y="251460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Servicios independientes escalables por proceso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7472144-45FB-4ACA-8DE4-82AF36995A9B}"/>
              </a:ext>
            </a:extLst>
          </p:cNvPr>
          <p:cNvSpPr>
            <a:spLocks noGrp="1"/>
          </p:cNvSpPr>
          <p:nvPr/>
        </p:nvSpPr>
        <p:spPr>
          <a:xfrm>
            <a:off x="6362700" y="3105150"/>
            <a:ext cx="4953000" cy="495300"/>
          </a:xfrm>
          <a:prstGeom prst="rect">
            <a:avLst/>
          </a:prstGeom>
          <a:solidFill>
            <a:srgbClr val="FBFAF7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3B3D38D4-92E4-4000-A9A8-1ADAACC20D5B}"/>
              </a:ext>
            </a:extLst>
          </p:cNvPr>
          <p:cNvSpPr>
            <a:spLocks noGrp="1"/>
          </p:cNvSpPr>
          <p:nvPr/>
        </p:nvSpPr>
        <p:spPr>
          <a:xfrm>
            <a:off x="6515100" y="3209925"/>
            <a:ext cx="1295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58A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8A24"/>
                </a:solidFill>
                <a:latin typeface="Aptos"/>
                <a:ea typeface="Aptos"/>
                <a:cs typeface="Aptos"/>
              </a:rPr>
              <a:t>Disposability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8F1FE418-9980-4727-992C-A6D56433BE7F}"/>
              </a:ext>
            </a:extLst>
          </p:cNvPr>
          <p:cNvSpPr>
            <a:spLocks noGrp="1"/>
          </p:cNvSpPr>
          <p:nvPr/>
        </p:nvSpPr>
        <p:spPr>
          <a:xfrm>
            <a:off x="7905750" y="320040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Healthchecks, logs claros y arranque por config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2F1A3048-A299-4474-A32D-6B3F1A58E1C2}"/>
              </a:ext>
            </a:extLst>
          </p:cNvPr>
          <p:cNvSpPr>
            <a:spLocks noGrp="1"/>
          </p:cNvSpPr>
          <p:nvPr/>
        </p:nvSpPr>
        <p:spPr>
          <a:xfrm>
            <a:off x="6362700" y="3790950"/>
            <a:ext cx="4953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2F992FE-BE19-4B67-B2DF-7568697C4A7C}"/>
              </a:ext>
            </a:extLst>
          </p:cNvPr>
          <p:cNvSpPr>
            <a:spLocks noGrp="1"/>
          </p:cNvSpPr>
          <p:nvPr/>
        </p:nvSpPr>
        <p:spPr>
          <a:xfrm>
            <a:off x="6515100" y="3895725"/>
            <a:ext cx="1295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Dev/prod parity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6E522BD7-831B-4893-A098-71492788234B}"/>
              </a:ext>
            </a:extLst>
          </p:cNvPr>
          <p:cNvSpPr>
            <a:spLocks noGrp="1"/>
          </p:cNvSpPr>
          <p:nvPr/>
        </p:nvSpPr>
        <p:spPr>
          <a:xfrm>
            <a:off x="7905750" y="388620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docker-compose y variables replican entorno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9B5A7C91-1B29-40B2-94E3-19986854589E}"/>
              </a:ext>
            </a:extLst>
          </p:cNvPr>
          <p:cNvSpPr>
            <a:spLocks noGrp="1"/>
          </p:cNvSpPr>
          <p:nvPr/>
        </p:nvSpPr>
        <p:spPr>
          <a:xfrm>
            <a:off x="6362700" y="4476750"/>
            <a:ext cx="4953000" cy="495300"/>
          </a:xfrm>
          <a:prstGeom prst="rect">
            <a:avLst/>
          </a:prstGeom>
          <a:solidFill>
            <a:srgbClr val="FBFAF7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42DA785D-CC9C-4F15-89D8-3FAA05CFFE4C}"/>
              </a:ext>
            </a:extLst>
          </p:cNvPr>
          <p:cNvSpPr>
            <a:spLocks noGrp="1"/>
          </p:cNvSpPr>
          <p:nvPr/>
        </p:nvSpPr>
        <p:spPr>
          <a:xfrm>
            <a:off x="6515100" y="4581525"/>
            <a:ext cx="1295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Logs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2F586EDD-4A29-4289-8D0E-EEDCEC3A6B54}"/>
              </a:ext>
            </a:extLst>
          </p:cNvPr>
          <p:cNvSpPr>
            <a:spLocks noGrp="1"/>
          </p:cNvSpPr>
          <p:nvPr/>
        </p:nvSpPr>
        <p:spPr>
          <a:xfrm>
            <a:off x="7905750" y="457200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stdout con niveles INFO/DEBUG/ERROR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59D056E8-2EA1-4A49-AF10-007EB4D27620}"/>
              </a:ext>
            </a:extLst>
          </p:cNvPr>
          <p:cNvSpPr>
            <a:spLocks noGrp="1"/>
          </p:cNvSpPr>
          <p:nvPr/>
        </p:nvSpPr>
        <p:spPr>
          <a:xfrm>
            <a:off x="6362700" y="5162550"/>
            <a:ext cx="4953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9D461C4F-F685-4158-A0B3-9C0384068639}"/>
              </a:ext>
            </a:extLst>
          </p:cNvPr>
          <p:cNvSpPr>
            <a:spLocks noGrp="1"/>
          </p:cNvSpPr>
          <p:nvPr/>
        </p:nvSpPr>
        <p:spPr>
          <a:xfrm>
            <a:off x="6515100" y="5267325"/>
            <a:ext cx="1295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58A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8A24"/>
                </a:solidFill>
                <a:latin typeface="Aptos"/>
                <a:ea typeface="Aptos"/>
                <a:cs typeface="Aptos"/>
              </a:rPr>
              <a:t>Admin processes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CBB4AB40-E363-479D-B561-F138F4C8F4CC}"/>
              </a:ext>
            </a:extLst>
          </p:cNvPr>
          <p:cNvSpPr>
            <a:spLocks noGrp="1"/>
          </p:cNvSpPr>
          <p:nvPr/>
        </p:nvSpPr>
        <p:spPr>
          <a:xfrm>
            <a:off x="7905750" y="525780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Endpoint manual generate-now para tareas admin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EA386CEF-C38A-40F9-8823-6623DA1A8875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9525"/>
          </a:xfrm>
          <a:prstGeom prst="rect">
            <a:avLst/>
          </a:prstGeom>
          <a:solidFill>
            <a:srgbClr val="D9D3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D5082C1A-FAF9-472C-9DA0-2455E5DBE635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Evidencias: application.yml/properties, docker-compose.yml, GitHub Actions, endpoints admin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3F61D319-197D-4BFF-ABA8-B874E36BFF2E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7468E4C7-8A46-9934-F242-670ACA88A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1528210"/>
            <a:ext cx="904875" cy="655639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5975CA9C-0FC5-EA33-59C2-87D067C65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326" y="1677339"/>
            <a:ext cx="828674" cy="562124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A6D4BC12-76ED-A1DE-5EA7-87C9AC67AE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4651" y="1417637"/>
            <a:ext cx="828674" cy="868964"/>
          </a:xfrm>
          <a:prstGeom prst="rect">
            <a:avLst/>
          </a:prstGeom>
        </p:spPr>
      </p:pic>
      <p:pic>
        <p:nvPicPr>
          <p:cNvPr id="52" name="Imagen 51">
            <a:extLst>
              <a:ext uri="{FF2B5EF4-FFF2-40B4-BE49-F238E27FC236}">
                <a16:creationId xmlns:a16="http://schemas.microsoft.com/office/drawing/2014/main" id="{F6A87B6B-C4C6-F63B-128D-257D8A689E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1509" y="1606461"/>
            <a:ext cx="734981" cy="682827"/>
          </a:xfrm>
          <a:prstGeom prst="rect">
            <a:avLst/>
          </a:prstGeom>
        </p:spPr>
      </p:pic>
      <p:pic>
        <p:nvPicPr>
          <p:cNvPr id="54" name="Imagen 53">
            <a:extLst>
              <a:ext uri="{FF2B5EF4-FFF2-40B4-BE49-F238E27FC236}">
                <a16:creationId xmlns:a16="http://schemas.microsoft.com/office/drawing/2014/main" id="{434B4605-2567-B8F8-63A4-20A5F15A69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8640" y="3819525"/>
            <a:ext cx="387310" cy="495300"/>
          </a:xfrm>
          <a:prstGeom prst="rect">
            <a:avLst/>
          </a:prstGeom>
        </p:spPr>
      </p:pic>
      <p:pic>
        <p:nvPicPr>
          <p:cNvPr id="56" name="Imagen 55">
            <a:extLst>
              <a:ext uri="{FF2B5EF4-FFF2-40B4-BE49-F238E27FC236}">
                <a16:creationId xmlns:a16="http://schemas.microsoft.com/office/drawing/2014/main" id="{F31905FB-0269-0EE5-082A-C264303DF6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21201" y="1623234"/>
            <a:ext cx="1150898" cy="639732"/>
          </a:xfrm>
          <a:prstGeom prst="rect">
            <a:avLst/>
          </a:prstGeom>
        </p:spPr>
      </p:pic>
      <p:pic>
        <p:nvPicPr>
          <p:cNvPr id="58" name="Imagen 57">
            <a:extLst>
              <a:ext uri="{FF2B5EF4-FFF2-40B4-BE49-F238E27FC236}">
                <a16:creationId xmlns:a16="http://schemas.microsoft.com/office/drawing/2014/main" id="{06446AD3-6D81-6CDE-C991-39BE46C496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5149" y="2351599"/>
            <a:ext cx="550802" cy="539912"/>
          </a:xfrm>
          <a:prstGeom prst="rect">
            <a:avLst/>
          </a:prstGeom>
        </p:spPr>
      </p:pic>
      <p:pic>
        <p:nvPicPr>
          <p:cNvPr id="60" name="Imagen 59">
            <a:extLst>
              <a:ext uri="{FF2B5EF4-FFF2-40B4-BE49-F238E27FC236}">
                <a16:creationId xmlns:a16="http://schemas.microsoft.com/office/drawing/2014/main" id="{4C22C836-2702-8A63-FD7C-1EBC6380A7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479" y="2441853"/>
            <a:ext cx="482053" cy="466726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0A91AD46-CB45-28ED-9E33-4DCEA93F47C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50190" y="2446613"/>
            <a:ext cx="525228" cy="476253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8F1DD88F-8148-7A79-7A5E-CB82249830F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48999" y="4467224"/>
            <a:ext cx="553356" cy="495301"/>
          </a:xfrm>
          <a:prstGeom prst="rect">
            <a:avLst/>
          </a:prstGeom>
        </p:spPr>
      </p:pic>
      <p:pic>
        <p:nvPicPr>
          <p:cNvPr id="66" name="Imagen 65">
            <a:extLst>
              <a:ext uri="{FF2B5EF4-FFF2-40B4-BE49-F238E27FC236}">
                <a16:creationId xmlns:a16="http://schemas.microsoft.com/office/drawing/2014/main" id="{CC13AD00-2461-EE68-66D1-5F264328ED4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31315" y="5162546"/>
            <a:ext cx="530670" cy="44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907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ángulo 37">
            <a:extLst>
              <a:ext uri="{FF2B5EF4-FFF2-40B4-BE49-F238E27FC236}">
                <a16:creationId xmlns:a16="http://schemas.microsoft.com/office/drawing/2014/main" id="{E931820E-7637-40B7-A305-2DFE3F90C3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9FDD2B6-B714-4D93-BE14-D8988780708A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95250" cy="95250"/>
          </a:xfrm>
          <a:prstGeom prst="rect">
            <a:avLst/>
          </a:prstGeom>
          <a:solidFill>
            <a:srgbClr val="D58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662C0D5-79FB-4AA8-BF1A-DD8F186FD3E8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DE6F3"/>
                </a:solidFill>
                <a:latin typeface="Aptos"/>
                <a:ea typeface="Aptos"/>
                <a:cs typeface="Aptos"/>
              </a:rPr>
              <a:t>SOLID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C4F68F9-F66E-4769-B076-4D4257CA2ED9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SOLID se ve en responsabilidades pequenas y dependencias hacia contratos.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A685243-4AD8-492D-82E4-4F025CDC0F9A}"/>
              </a:ext>
            </a:extLst>
          </p:cNvPr>
          <p:cNvSpPr>
            <a:spLocks noGrp="1"/>
          </p:cNvSpPr>
          <p:nvPr/>
        </p:nvSpPr>
        <p:spPr>
          <a:xfrm>
            <a:off x="781050" y="1790700"/>
            <a:ext cx="800100" cy="495300"/>
          </a:xfrm>
          <a:prstGeom prst="rect">
            <a:avLst/>
          </a:prstGeom>
          <a:solidFill>
            <a:srgbClr val="2E7D5B"/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FC78713-55DF-4D3F-87E3-C29385DA7385}"/>
              </a:ext>
            </a:extLst>
          </p:cNvPr>
          <p:cNvSpPr>
            <a:spLocks noGrp="1"/>
          </p:cNvSpPr>
          <p:nvPr/>
        </p:nvSpPr>
        <p:spPr>
          <a:xfrm>
            <a:off x="1000125" y="1847850"/>
            <a:ext cx="381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CBCCDE7-F44D-4649-A664-C5EC97C82D7F}"/>
              </a:ext>
            </a:extLst>
          </p:cNvPr>
          <p:cNvSpPr>
            <a:spLocks noGrp="1"/>
          </p:cNvSpPr>
          <p:nvPr/>
        </p:nvSpPr>
        <p:spPr>
          <a:xfrm>
            <a:off x="1866900" y="18288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Single Responsibility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669289E-1100-447A-BEC4-CB9EE7B607DD}"/>
              </a:ext>
            </a:extLst>
          </p:cNvPr>
          <p:cNvSpPr>
            <a:spLocks noGrp="1"/>
          </p:cNvSpPr>
          <p:nvPr/>
        </p:nvSpPr>
        <p:spPr>
          <a:xfrm>
            <a:off x="1866900" y="2085975"/>
            <a:ext cx="809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6F3"/>
                </a:solidFill>
                <a:latin typeface="Aptos"/>
                <a:ea typeface="Aptos"/>
                <a:cs typeface="Aptos"/>
              </a:rPr>
              <a:t>ReportController expone endpoints; ReportProcessingService orquesta; EmailService solo envia correo.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1A4DB21-1AF6-4644-A14C-8DAA187D9937}"/>
              </a:ext>
            </a:extLst>
          </p:cNvPr>
          <p:cNvSpPr>
            <a:spLocks noGrp="1"/>
          </p:cNvSpPr>
          <p:nvPr/>
        </p:nvSpPr>
        <p:spPr>
          <a:xfrm>
            <a:off x="10496550" y="1914525"/>
            <a:ext cx="609600" cy="209550"/>
          </a:xfrm>
          <a:prstGeom prst="rect">
            <a:avLst/>
          </a:prstGeom>
          <a:solidFill>
            <a:srgbClr val="D58A24"/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BF49E98-439D-4295-AC2B-53DF5DDAD7FC}"/>
              </a:ext>
            </a:extLst>
          </p:cNvPr>
          <p:cNvSpPr>
            <a:spLocks noGrp="1"/>
          </p:cNvSpPr>
          <p:nvPr/>
        </p:nvSpPr>
        <p:spPr>
          <a:xfrm>
            <a:off x="10610850" y="1962150"/>
            <a:ext cx="3810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2BC97D2-7577-4D2A-B868-C209DAFD8B55}"/>
              </a:ext>
            </a:extLst>
          </p:cNvPr>
          <p:cNvSpPr>
            <a:spLocks noGrp="1"/>
          </p:cNvSpPr>
          <p:nvPr/>
        </p:nvSpPr>
        <p:spPr>
          <a:xfrm>
            <a:off x="781050" y="2533650"/>
            <a:ext cx="800100" cy="495300"/>
          </a:xfrm>
          <a:prstGeom prst="rect">
            <a:avLst/>
          </a:prstGeom>
          <a:solidFill>
            <a:srgbClr val="2563EB"/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EA675BF-5F83-4614-B55E-AE4AD67EDFA2}"/>
              </a:ext>
            </a:extLst>
          </p:cNvPr>
          <p:cNvSpPr>
            <a:spLocks noGrp="1"/>
          </p:cNvSpPr>
          <p:nvPr/>
        </p:nvSpPr>
        <p:spPr>
          <a:xfrm>
            <a:off x="1000125" y="2590800"/>
            <a:ext cx="381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A348AC0-B6BA-4FE7-BAC6-0129CA0F0EB0}"/>
              </a:ext>
            </a:extLst>
          </p:cNvPr>
          <p:cNvSpPr>
            <a:spLocks noGrp="1"/>
          </p:cNvSpPr>
          <p:nvPr/>
        </p:nvSpPr>
        <p:spPr>
          <a:xfrm>
            <a:off x="1866900" y="25717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Open/Closed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607A2F5-7C06-4601-BB07-3CE7BA368B5A}"/>
              </a:ext>
            </a:extLst>
          </p:cNvPr>
          <p:cNvSpPr>
            <a:spLocks noGrp="1"/>
          </p:cNvSpPr>
          <p:nvPr/>
        </p:nvSpPr>
        <p:spPr>
          <a:xfrm>
            <a:off x="1866900" y="2828925"/>
            <a:ext cx="809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6F3"/>
                </a:solidFill>
                <a:latin typeface="Aptos"/>
                <a:ea typeface="Aptos"/>
                <a:cs typeface="Aptos"/>
              </a:rPr>
              <a:t>Nuevos flujos de reporte se agregan como servicios/endpoints sin tocar el dominio de ordenes.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33E16E4-EF4D-42BD-B936-B3A126D30F69}"/>
              </a:ext>
            </a:extLst>
          </p:cNvPr>
          <p:cNvSpPr>
            <a:spLocks noGrp="1"/>
          </p:cNvSpPr>
          <p:nvPr/>
        </p:nvSpPr>
        <p:spPr>
          <a:xfrm>
            <a:off x="10496550" y="2657475"/>
            <a:ext cx="609600" cy="209550"/>
          </a:xfrm>
          <a:prstGeom prst="rect">
            <a:avLst/>
          </a:prstGeom>
          <a:solidFill>
            <a:srgbClr val="2A3449"/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1989511-21AE-48AE-AED3-16B3C7591F4E}"/>
              </a:ext>
            </a:extLst>
          </p:cNvPr>
          <p:cNvSpPr>
            <a:spLocks noGrp="1"/>
          </p:cNvSpPr>
          <p:nvPr/>
        </p:nvSpPr>
        <p:spPr>
          <a:xfrm>
            <a:off x="10610850" y="2705100"/>
            <a:ext cx="3810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06410B5-B24A-48C9-9DBA-4E693CA6F9D0}"/>
              </a:ext>
            </a:extLst>
          </p:cNvPr>
          <p:cNvSpPr>
            <a:spLocks noGrp="1"/>
          </p:cNvSpPr>
          <p:nvPr/>
        </p:nvSpPr>
        <p:spPr>
          <a:xfrm>
            <a:off x="781050" y="3276600"/>
            <a:ext cx="800100" cy="495300"/>
          </a:xfrm>
          <a:prstGeom prst="rect">
            <a:avLst/>
          </a:prstGeom>
          <a:solidFill>
            <a:srgbClr val="2E7D5B"/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6EBF171-A89A-466D-A7E2-279D23C8F18B}"/>
              </a:ext>
            </a:extLst>
          </p:cNvPr>
          <p:cNvSpPr>
            <a:spLocks noGrp="1"/>
          </p:cNvSpPr>
          <p:nvPr/>
        </p:nvSpPr>
        <p:spPr>
          <a:xfrm>
            <a:off x="1000125" y="3333750"/>
            <a:ext cx="381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72BAFA3-BCFB-465F-B993-5E0520537A4E}"/>
              </a:ext>
            </a:extLst>
          </p:cNvPr>
          <p:cNvSpPr>
            <a:spLocks noGrp="1"/>
          </p:cNvSpPr>
          <p:nvPr/>
        </p:nvSpPr>
        <p:spPr>
          <a:xfrm>
            <a:off x="1866900" y="33147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Liskov Substitution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24A40A1-AC57-40FB-93CB-26C1936CC4A0}"/>
              </a:ext>
            </a:extLst>
          </p:cNvPr>
          <p:cNvSpPr>
            <a:spLocks noGrp="1"/>
          </p:cNvSpPr>
          <p:nvPr/>
        </p:nvSpPr>
        <p:spPr>
          <a:xfrm>
            <a:off x="1866900" y="3571875"/>
            <a:ext cx="809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6F3"/>
                </a:solidFill>
                <a:latin typeface="Aptos"/>
                <a:ea typeface="Aptos"/>
                <a:cs typeface="Aptos"/>
              </a:rPr>
              <a:t>Puertos de repositorio permiten cambiar adaptadores sin romper los casos de uso.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B626D2D-E441-445D-A204-862BCC81258C}"/>
              </a:ext>
            </a:extLst>
          </p:cNvPr>
          <p:cNvSpPr>
            <a:spLocks noGrp="1"/>
          </p:cNvSpPr>
          <p:nvPr/>
        </p:nvSpPr>
        <p:spPr>
          <a:xfrm>
            <a:off x="10496550" y="3400425"/>
            <a:ext cx="609600" cy="209550"/>
          </a:xfrm>
          <a:prstGeom prst="rect">
            <a:avLst/>
          </a:prstGeom>
          <a:solidFill>
            <a:srgbClr val="2A3449"/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7DF629C-0FF2-464E-83BB-87DF8F1C814C}"/>
              </a:ext>
            </a:extLst>
          </p:cNvPr>
          <p:cNvSpPr>
            <a:spLocks noGrp="1"/>
          </p:cNvSpPr>
          <p:nvPr/>
        </p:nvSpPr>
        <p:spPr>
          <a:xfrm>
            <a:off x="10610850" y="3448050"/>
            <a:ext cx="3810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5DA43C6-D1CE-4F93-85AB-AA0320B0EBC8}"/>
              </a:ext>
            </a:extLst>
          </p:cNvPr>
          <p:cNvSpPr>
            <a:spLocks noGrp="1"/>
          </p:cNvSpPr>
          <p:nvPr/>
        </p:nvSpPr>
        <p:spPr>
          <a:xfrm>
            <a:off x="781050" y="4019550"/>
            <a:ext cx="800100" cy="495300"/>
          </a:xfrm>
          <a:prstGeom prst="rect">
            <a:avLst/>
          </a:prstGeom>
          <a:solidFill>
            <a:srgbClr val="2563EB"/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68E6B907-0CE5-4079-8251-181F12FC2A20}"/>
              </a:ext>
            </a:extLst>
          </p:cNvPr>
          <p:cNvSpPr>
            <a:spLocks noGrp="1"/>
          </p:cNvSpPr>
          <p:nvPr/>
        </p:nvSpPr>
        <p:spPr>
          <a:xfrm>
            <a:off x="1000125" y="4076700"/>
            <a:ext cx="381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E63A5B3-7F53-4710-BAA4-BB3B09AC01B0}"/>
              </a:ext>
            </a:extLst>
          </p:cNvPr>
          <p:cNvSpPr>
            <a:spLocks noGrp="1"/>
          </p:cNvSpPr>
          <p:nvPr/>
        </p:nvSpPr>
        <p:spPr>
          <a:xfrm>
            <a:off x="1866900" y="40576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Interface Segregation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7180658-CFE6-4DDE-A63E-A761AA46020F}"/>
              </a:ext>
            </a:extLst>
          </p:cNvPr>
          <p:cNvSpPr>
            <a:spLocks noGrp="1"/>
          </p:cNvSpPr>
          <p:nvPr/>
        </p:nvSpPr>
        <p:spPr>
          <a:xfrm>
            <a:off x="1866900" y="4314825"/>
            <a:ext cx="809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6F3"/>
                </a:solidFill>
                <a:latin typeface="Aptos"/>
                <a:ea typeface="Aptos"/>
                <a:cs typeface="Aptos"/>
              </a:rPr>
              <a:t>UserRepositoryPort y casos de uso exponen operaciones especificas, no interfaces gigantes.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738547B-26B8-44DD-B423-12426FFD2C54}"/>
              </a:ext>
            </a:extLst>
          </p:cNvPr>
          <p:cNvSpPr>
            <a:spLocks noGrp="1"/>
          </p:cNvSpPr>
          <p:nvPr/>
        </p:nvSpPr>
        <p:spPr>
          <a:xfrm>
            <a:off x="10496550" y="4143375"/>
            <a:ext cx="609600" cy="209550"/>
          </a:xfrm>
          <a:prstGeom prst="rect">
            <a:avLst/>
          </a:prstGeom>
          <a:solidFill>
            <a:srgbClr val="2A3449"/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BD02DA0-7A30-4098-8C6B-7BF04D27D9DA}"/>
              </a:ext>
            </a:extLst>
          </p:cNvPr>
          <p:cNvSpPr>
            <a:spLocks noGrp="1"/>
          </p:cNvSpPr>
          <p:nvPr/>
        </p:nvSpPr>
        <p:spPr>
          <a:xfrm>
            <a:off x="10610850" y="4191000"/>
            <a:ext cx="3810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D78C704-AF8B-4F6F-A809-7EB328F2AD66}"/>
              </a:ext>
            </a:extLst>
          </p:cNvPr>
          <p:cNvSpPr>
            <a:spLocks noGrp="1"/>
          </p:cNvSpPr>
          <p:nvPr/>
        </p:nvSpPr>
        <p:spPr>
          <a:xfrm>
            <a:off x="781050" y="4762500"/>
            <a:ext cx="800100" cy="495300"/>
          </a:xfrm>
          <a:prstGeom prst="rect">
            <a:avLst/>
          </a:prstGeom>
          <a:solidFill>
            <a:srgbClr val="2E7D5B"/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5486271-0AFC-4B30-8EC0-F8C6AD42AFC7}"/>
              </a:ext>
            </a:extLst>
          </p:cNvPr>
          <p:cNvSpPr>
            <a:spLocks noGrp="1"/>
          </p:cNvSpPr>
          <p:nvPr/>
        </p:nvSpPr>
        <p:spPr>
          <a:xfrm>
            <a:off x="1000125" y="4819650"/>
            <a:ext cx="381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320200C4-F4DC-48E2-B89B-831D37894A0F}"/>
              </a:ext>
            </a:extLst>
          </p:cNvPr>
          <p:cNvSpPr>
            <a:spLocks noGrp="1"/>
          </p:cNvSpPr>
          <p:nvPr/>
        </p:nvSpPr>
        <p:spPr>
          <a:xfrm>
            <a:off x="1866900" y="48006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Dependency Inversion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03577277-B3A0-4EFB-B35C-87EEBEE39FCC}"/>
              </a:ext>
            </a:extLst>
          </p:cNvPr>
          <p:cNvSpPr>
            <a:spLocks noGrp="1"/>
          </p:cNvSpPr>
          <p:nvPr/>
        </p:nvSpPr>
        <p:spPr>
          <a:xfrm>
            <a:off x="1866900" y="5057775"/>
            <a:ext cx="8096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6F3"/>
                </a:solidFill>
                <a:latin typeface="Aptos"/>
                <a:ea typeface="Aptos"/>
                <a:cs typeface="Aptos"/>
              </a:rPr>
              <a:t>Aplicacion depende de puertos; infraestructura implementa JPA/HTTP/SMTP.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CD146DAF-5E34-4948-B4EA-1B711691D4F9}"/>
              </a:ext>
            </a:extLst>
          </p:cNvPr>
          <p:cNvSpPr>
            <a:spLocks noGrp="1"/>
          </p:cNvSpPr>
          <p:nvPr/>
        </p:nvSpPr>
        <p:spPr>
          <a:xfrm>
            <a:off x="10496550" y="4886325"/>
            <a:ext cx="609600" cy="209550"/>
          </a:xfrm>
          <a:prstGeom prst="rect">
            <a:avLst/>
          </a:prstGeom>
          <a:solidFill>
            <a:srgbClr val="D58A24"/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7FB06655-32BC-4839-85C2-33B795A8B10A}"/>
              </a:ext>
            </a:extLst>
          </p:cNvPr>
          <p:cNvSpPr>
            <a:spLocks noGrp="1"/>
          </p:cNvSpPr>
          <p:nvPr/>
        </p:nvSpPr>
        <p:spPr>
          <a:xfrm>
            <a:off x="10610850" y="4933950"/>
            <a:ext cx="3810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clave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8581ECD6-7D4F-4BAA-B601-BB96E6D6E64C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9525"/>
          </a:xfrm>
          <a:prstGeom prst="rect">
            <a:avLst/>
          </a:prstGeom>
          <a:solidFill>
            <a:srgbClr val="2A344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5F9DBF1-DC4B-4716-A290-A1DFC0FDF11D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AAB6C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AB6C8"/>
                </a:solidFill>
                <a:latin typeface="Aptos"/>
                <a:ea typeface="Aptos"/>
                <a:cs typeface="Aptos"/>
              </a:rPr>
              <a:t>Mapeo a clases: controllers, services, ports, repositories/adapters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80DC1C2B-184E-4639-9BD4-57993EC48311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C4CCA23C-A7F6-D2BA-4C36-AA4C6A537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0450" y="1661657"/>
            <a:ext cx="367064" cy="562885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5E1279B7-6FDF-86A1-8E66-AA5BA09B0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1875" y="2584823"/>
            <a:ext cx="667542" cy="377452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31D0BC5E-14CA-501C-1AF9-4FA449C443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0450" y="3309659"/>
            <a:ext cx="760169" cy="372032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40D48AE3-2C06-7828-896E-7AAD621130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1875" y="4089759"/>
            <a:ext cx="965252" cy="316782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81020490-E1D8-2D11-AF36-5F3CFE5A83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20450" y="4715006"/>
            <a:ext cx="874469" cy="47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885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F4CAA3B0-4133-4006-B2A3-A1F138DF53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E514ADB-D584-4CF5-B66F-1C460FC779F9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95250" cy="95250"/>
          </a:xfrm>
          <a:prstGeom prst="rect">
            <a:avLst/>
          </a:prstGeom>
          <a:solidFill>
            <a:srgbClr val="D58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B2B0D9E-7F1C-4181-9E9F-97AB472521D9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DE6F3"/>
                </a:solidFill>
                <a:latin typeface="Aptos"/>
                <a:ea typeface="Aptos"/>
                <a:cs typeface="Aptos"/>
              </a:rPr>
              <a:t>LOGS Y RESILIENCIA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FDA5B4C-6FEB-478B-A5D3-E75A912B4E30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Los fallos externos quedan visibles y no tumban el flujo completo.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A8FC199-3D54-42D4-B6E0-8A5AEEBC2292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7048500" cy="2857500"/>
          </a:xfrm>
          <a:prstGeom prst="rect">
            <a:avLst/>
          </a:prstGeom>
          <a:solidFill>
            <a:srgbClr val="0B1020"/>
          </a:solidFill>
          <a:ln w="9525">
            <a:solidFill>
              <a:srgbClr val="29344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7758F65-80BA-469B-84B8-7F7370FE0168}"/>
              </a:ext>
            </a:extLst>
          </p:cNvPr>
          <p:cNvSpPr>
            <a:spLocks noGrp="1"/>
          </p:cNvSpPr>
          <p:nvPr/>
        </p:nvSpPr>
        <p:spPr>
          <a:xfrm>
            <a:off x="838200" y="2095500"/>
            <a:ext cx="6743700" cy="2590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INFO  OpenAI configuration detected. Using model gpt-4o-mini</a:t>
            </a:r>
          </a:p>
          <a:p>
            <a:pPr algn="l">
              <a:defRPr sz="69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INFO  SMTP Gmail configuration detected for jacobmunoz992@gmail.com</a:t>
            </a:r>
          </a:p>
          <a:p>
            <a:pPr algn="l">
              <a:defRPr sz="69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INFO  Sales data ready: orders=2, totalSales=199000.00, topProduct=Lomo de Res</a:t>
            </a:r>
          </a:p>
          <a:p>
            <a:pPr algn="l">
              <a:defRPr sz="69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ERROR Error generating AI report. Falling back to basic report: 401 invalid_api_key</a:t>
            </a:r>
          </a:p>
          <a:p>
            <a:pPr algn="l">
              <a:defRPr sz="69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ERROR Error enviando email: 535 Username and Password not accepted</a:t>
            </a:r>
          </a:p>
          <a:p>
            <a:pPr algn="l">
              <a:defRPr sz="690" b="0">
                <a:solidFill>
                  <a:srgbClr val="DDE6F3"/>
                </a:solidFill>
                <a:latin typeface="Aptos Mono"/>
                <a:ea typeface="Aptos Mono"/>
                <a:cs typeface="Aptos Mono"/>
              </a:defRPr>
            </a:pPr>
            <a:r>
              <a:rPr sz="690" b="0">
                <a:solidFill>
                  <a:srgbClr val="DDE6F3"/>
                </a:solidFill>
                <a:latin typeface="Aptos Mono"/>
                <a:ea typeface="Aptos Mono"/>
                <a:cs typeface="Aptos Mono"/>
              </a:rPr>
              <a:t>INFO  Daily report flow finished. emailSent=false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49D63F4-D682-4A41-9E02-9C197696078E}"/>
              </a:ext>
            </a:extLst>
          </p:cNvPr>
          <p:cNvSpPr>
            <a:spLocks noGrp="1"/>
          </p:cNvSpPr>
          <p:nvPr/>
        </p:nvSpPr>
        <p:spPr>
          <a:xfrm>
            <a:off x="8286750" y="2038350"/>
            <a:ext cx="2571750" cy="723900"/>
          </a:xfrm>
          <a:prstGeom prst="rect">
            <a:avLst/>
          </a:prstGeom>
          <a:solidFill>
            <a:srgbClr val="24304A"/>
          </a:solidFill>
          <a:ln w="9525">
            <a:solidFill>
              <a:srgbClr val="3B4A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0CBBDFF-5DA6-4967-A9B7-DE1CBB1A7BF9}"/>
              </a:ext>
            </a:extLst>
          </p:cNvPr>
          <p:cNvSpPr>
            <a:spLocks noGrp="1"/>
          </p:cNvSpPr>
          <p:nvPr/>
        </p:nvSpPr>
        <p:spPr>
          <a:xfrm>
            <a:off x="8496300" y="22288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Fallback OpenAI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DA80DD8-8C4A-4DC7-8AB5-865EC6102871}"/>
              </a:ext>
            </a:extLst>
          </p:cNvPr>
          <p:cNvSpPr>
            <a:spLocks noGrp="1"/>
          </p:cNvSpPr>
          <p:nvPr/>
        </p:nvSpPr>
        <p:spPr>
          <a:xfrm>
            <a:off x="8496300" y="24193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DE6F3"/>
                </a:solidFill>
                <a:latin typeface="Aptos"/>
                <a:ea typeface="Aptos"/>
                <a:cs typeface="Aptos"/>
              </a:rPr>
              <a:t>Si la key falla, se genera reporte basico con datos reales.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0E8AC4E-5574-47C4-AEA2-84458F4694EA}"/>
              </a:ext>
            </a:extLst>
          </p:cNvPr>
          <p:cNvSpPr>
            <a:spLocks noGrp="1"/>
          </p:cNvSpPr>
          <p:nvPr/>
        </p:nvSpPr>
        <p:spPr>
          <a:xfrm>
            <a:off x="8286750" y="2990850"/>
            <a:ext cx="2571750" cy="800100"/>
          </a:xfrm>
          <a:prstGeom prst="rect">
            <a:avLst/>
          </a:prstGeom>
          <a:solidFill>
            <a:srgbClr val="3A2D18"/>
          </a:solidFill>
          <a:ln w="9525">
            <a:solidFill>
              <a:srgbClr val="6B4A1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C688A84-E9C7-4836-B982-868E6A179757}"/>
              </a:ext>
            </a:extLst>
          </p:cNvPr>
          <p:cNvSpPr>
            <a:spLocks noGrp="1"/>
          </p:cNvSpPr>
          <p:nvPr/>
        </p:nvSpPr>
        <p:spPr>
          <a:xfrm>
            <a:off x="8496300" y="31432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SMTP diagnostico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4B18FB6-3AEE-49DE-B6EF-3FAA63338EDF}"/>
              </a:ext>
            </a:extLst>
          </p:cNvPr>
          <p:cNvSpPr>
            <a:spLocks noGrp="1"/>
          </p:cNvSpPr>
          <p:nvPr/>
        </p:nvSpPr>
        <p:spPr>
          <a:xfrm>
            <a:off x="8496300" y="3352800"/>
            <a:ext cx="209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9E7C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9E7C8"/>
                </a:solidFill>
                <a:latin typeface="Aptos"/>
                <a:ea typeface="Aptos"/>
                <a:cs typeface="Aptos"/>
              </a:rPr>
              <a:t>El error 535 indica credencial Gmail invalida o falta app password.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860D4B9-8748-423E-AC4D-AC0EC34AC606}"/>
              </a:ext>
            </a:extLst>
          </p:cNvPr>
          <p:cNvSpPr>
            <a:spLocks noGrp="1"/>
          </p:cNvSpPr>
          <p:nvPr/>
        </p:nvSpPr>
        <p:spPr>
          <a:xfrm>
            <a:off x="8286750" y="4095750"/>
            <a:ext cx="2571750" cy="723900"/>
          </a:xfrm>
          <a:prstGeom prst="rect">
            <a:avLst/>
          </a:prstGeom>
          <a:solidFill>
            <a:srgbClr val="1E342A"/>
          </a:solidFill>
          <a:ln w="9525">
            <a:solidFill>
              <a:srgbClr val="356E5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A9566BC-5623-4BD1-8D9A-D8F41AADBDC5}"/>
              </a:ext>
            </a:extLst>
          </p:cNvPr>
          <p:cNvSpPr>
            <a:spLocks noGrp="1"/>
          </p:cNvSpPr>
          <p:nvPr/>
        </p:nvSpPr>
        <p:spPr>
          <a:xfrm>
            <a:off x="8496300" y="42291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Entrega parcial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5847FBF-5C38-45EA-9644-DE1E2F80994D}"/>
              </a:ext>
            </a:extLst>
          </p:cNvPr>
          <p:cNvSpPr>
            <a:spLocks noGrp="1"/>
          </p:cNvSpPr>
          <p:nvPr/>
        </p:nvSpPr>
        <p:spPr>
          <a:xfrm>
            <a:off x="8496300" y="44577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D5F0E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5F0E1"/>
                </a:solidFill>
                <a:latin typeface="Aptos"/>
                <a:ea typeface="Aptos"/>
                <a:cs typeface="Aptos"/>
              </a:rPr>
              <a:t>El resultado enumera destinatarios enviados y fallidos.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5DDD460-BB60-4FEE-A669-5211D73D3673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9525"/>
          </a:xfrm>
          <a:prstGeom prst="rect">
            <a:avLst/>
          </a:prstGeom>
          <a:solidFill>
            <a:srgbClr val="2A344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F9BB4FB-BEF5-4DFB-99F0-E9A9384EE849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AAB6C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AB6C8"/>
                </a:solidFill>
                <a:latin typeface="Aptos"/>
                <a:ea typeface="Aptos"/>
                <a:cs typeface="Aptos"/>
              </a:rPr>
              <a:t>Logs reales resumidos del arranque y POST /api/reports/generate-and-send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BC78FE0-EE0A-4E09-9E62-4FE164969CD0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00425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>
            <a:extLst>
              <a:ext uri="{FF2B5EF4-FFF2-40B4-BE49-F238E27FC236}">
                <a16:creationId xmlns:a16="http://schemas.microsoft.com/office/drawing/2014/main" id="{69A4C6B3-6E27-4B15-8A81-2E0BBA7A17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1BAB5C8-4AFB-4ECD-BBB6-CB3D3014068F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95250" cy="95250"/>
          </a:xfrm>
          <a:prstGeom prst="rect">
            <a:avLst/>
          </a:prstGeom>
          <a:solidFill>
            <a:srgbClr val="2E7D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86481E4-2422-42C0-9620-7C5DE769D0BC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PIPELINE CI/CD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4BF0498-7312-45D6-91BA-12FC6AD62A15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El pipeline valida backend, frontend y empaquetado antes de construir imagenes.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B0767E4-DC07-47BA-B086-3282DA7A4E1B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14287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1018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7EA2994-A72B-425A-BC38-A93BF6500A81}"/>
              </a:ext>
            </a:extLst>
          </p:cNvPr>
          <p:cNvSpPr>
            <a:spLocks noGrp="1"/>
          </p:cNvSpPr>
          <p:nvPr/>
        </p:nvSpPr>
        <p:spPr>
          <a:xfrm>
            <a:off x="800100" y="283845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Push / PR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6A46478-7A3E-43E0-AECA-A370E5E7A25C}"/>
              </a:ext>
            </a:extLst>
          </p:cNvPr>
          <p:cNvSpPr>
            <a:spLocks noGrp="1"/>
          </p:cNvSpPr>
          <p:nvPr/>
        </p:nvSpPr>
        <p:spPr>
          <a:xfrm>
            <a:off x="800100" y="3105150"/>
            <a:ext cx="1162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GitHub Actions dispara workflows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1900E13-67BD-4837-9DFA-910F27090AD8}"/>
              </a:ext>
            </a:extLst>
          </p:cNvPr>
          <p:cNvSpPr>
            <a:spLocks noGrp="1"/>
          </p:cNvSpPr>
          <p:nvPr/>
        </p:nvSpPr>
        <p:spPr>
          <a:xfrm>
            <a:off x="2724150" y="2133600"/>
            <a:ext cx="1790700" cy="1066800"/>
          </a:xfrm>
          <a:prstGeom prst="rect">
            <a:avLst/>
          </a:prstGeom>
          <a:solidFill>
            <a:srgbClr val="E9F7EF"/>
          </a:solidFill>
          <a:ln w="9525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6BC0CAA-8788-4AF1-B45A-41DCD9C2F341}"/>
              </a:ext>
            </a:extLst>
          </p:cNvPr>
          <p:cNvSpPr>
            <a:spLocks noGrp="1"/>
          </p:cNvSpPr>
          <p:nvPr/>
        </p:nvSpPr>
        <p:spPr>
          <a:xfrm>
            <a:off x="2857500" y="22479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Backend tests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B11ACA6-3500-4F49-BDA3-E30F185F85D3}"/>
              </a:ext>
            </a:extLst>
          </p:cNvPr>
          <p:cNvSpPr>
            <a:spLocks noGrp="1"/>
          </p:cNvSpPr>
          <p:nvPr/>
        </p:nvSpPr>
        <p:spPr>
          <a:xfrm>
            <a:off x="2857500" y="2514600"/>
            <a:ext cx="1524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JDK 17, Maven cache, test, surefire reports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6831D45-14A7-4B1D-BDC0-A79BC4F7ACB4}"/>
              </a:ext>
            </a:extLst>
          </p:cNvPr>
          <p:cNvSpPr>
            <a:spLocks noGrp="1"/>
          </p:cNvSpPr>
          <p:nvPr/>
        </p:nvSpPr>
        <p:spPr>
          <a:xfrm>
            <a:off x="2724150" y="3714750"/>
            <a:ext cx="1790700" cy="1066800"/>
          </a:xfrm>
          <a:prstGeom prst="rect">
            <a:avLst/>
          </a:prstGeom>
          <a:solidFill>
            <a:srgbClr val="EAF4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D208176-39A7-4458-98EF-AB16F0556266}"/>
              </a:ext>
            </a:extLst>
          </p:cNvPr>
          <p:cNvSpPr>
            <a:spLocks noGrp="1"/>
          </p:cNvSpPr>
          <p:nvPr/>
        </p:nvSpPr>
        <p:spPr>
          <a:xfrm>
            <a:off x="2857500" y="38290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Frontend tests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4970599-9AA8-4C49-B84B-4C49A0D65ED3}"/>
              </a:ext>
            </a:extLst>
          </p:cNvPr>
          <p:cNvSpPr>
            <a:spLocks noGrp="1"/>
          </p:cNvSpPr>
          <p:nvPr/>
        </p:nvSpPr>
        <p:spPr>
          <a:xfrm>
            <a:off x="2857500" y="4095750"/>
            <a:ext cx="1524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Node 20, npm ci, ChromeHeadless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055F33E-E7B6-4501-A0EC-D487F5E3911A}"/>
              </a:ext>
            </a:extLst>
          </p:cNvPr>
          <p:cNvSpPr>
            <a:spLocks noGrp="1"/>
          </p:cNvSpPr>
          <p:nvPr/>
        </p:nvSpPr>
        <p:spPr>
          <a:xfrm>
            <a:off x="5334000" y="2724150"/>
            <a:ext cx="17907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58A2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0700D75-EC4A-4961-A1B0-E4311BC9DD40}"/>
              </a:ext>
            </a:extLst>
          </p:cNvPr>
          <p:cNvSpPr>
            <a:spLocks noGrp="1"/>
          </p:cNvSpPr>
          <p:nvPr/>
        </p:nvSpPr>
        <p:spPr>
          <a:xfrm>
            <a:off x="5467350" y="28384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Build artifacts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5CCA5D1-8376-4E92-83D2-BB16E572BE5D}"/>
              </a:ext>
            </a:extLst>
          </p:cNvPr>
          <p:cNvSpPr>
            <a:spLocks noGrp="1"/>
          </p:cNvSpPr>
          <p:nvPr/>
        </p:nvSpPr>
        <p:spPr>
          <a:xfrm>
            <a:off x="5467350" y="3105150"/>
            <a:ext cx="1524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JAR y dist Angular como artefactos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330BED8-8B6A-4750-87A5-1CD6D87B7750}"/>
              </a:ext>
            </a:extLst>
          </p:cNvPr>
          <p:cNvSpPr>
            <a:spLocks noGrp="1"/>
          </p:cNvSpPr>
          <p:nvPr/>
        </p:nvSpPr>
        <p:spPr>
          <a:xfrm>
            <a:off x="7943850" y="2724150"/>
            <a:ext cx="1790700" cy="971550"/>
          </a:xfrm>
          <a:prstGeom prst="rect">
            <a:avLst/>
          </a:prstGeom>
          <a:solidFill>
            <a:srgbClr val="FFF0D5"/>
          </a:solidFill>
          <a:ln w="9525">
            <a:solidFill>
              <a:srgbClr val="D58A2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774E80D-2517-4B47-894F-79AC06B8A300}"/>
              </a:ext>
            </a:extLst>
          </p:cNvPr>
          <p:cNvSpPr>
            <a:spLocks noGrp="1"/>
          </p:cNvSpPr>
          <p:nvPr/>
        </p:nvSpPr>
        <p:spPr>
          <a:xfrm>
            <a:off x="8077200" y="28384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Docker images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C63D236-ABEA-476C-A616-65120F5C6F83}"/>
              </a:ext>
            </a:extLst>
          </p:cNvPr>
          <p:cNvSpPr>
            <a:spLocks noGrp="1"/>
          </p:cNvSpPr>
          <p:nvPr/>
        </p:nvSpPr>
        <p:spPr>
          <a:xfrm>
            <a:off x="8077200" y="3105150"/>
            <a:ext cx="1524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Build de imagen backend y frontend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496C566-4A50-4B87-815C-C52A0A5ADB23}"/>
              </a:ext>
            </a:extLst>
          </p:cNvPr>
          <p:cNvSpPr>
            <a:spLocks noGrp="1"/>
          </p:cNvSpPr>
          <p:nvPr/>
        </p:nvSpPr>
        <p:spPr>
          <a:xfrm>
            <a:off x="10363200" y="2724150"/>
            <a:ext cx="1257300" cy="971550"/>
          </a:xfrm>
          <a:prstGeom prst="rect">
            <a:avLst/>
          </a:prstGeom>
          <a:solidFill>
            <a:srgbClr val="F8E2DF"/>
          </a:solidFill>
          <a:ln w="9525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F5F2E4E-2D36-4F6D-A037-54AB1F9A09EC}"/>
              </a:ext>
            </a:extLst>
          </p:cNvPr>
          <p:cNvSpPr>
            <a:spLocks noGrp="1"/>
          </p:cNvSpPr>
          <p:nvPr/>
        </p:nvSpPr>
        <p:spPr>
          <a:xfrm>
            <a:off x="10496550" y="28384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Quality gate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C1A209A-DB85-464B-B882-4B1888DFA952}"/>
              </a:ext>
            </a:extLst>
          </p:cNvPr>
          <p:cNvSpPr>
            <a:spLocks noGrp="1"/>
          </p:cNvSpPr>
          <p:nvPr/>
        </p:nvSpPr>
        <p:spPr>
          <a:xfrm>
            <a:off x="10496550" y="3105150"/>
            <a:ext cx="990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Resumen de pruebas y estado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8097766-157A-4A68-8FD3-25B83B00A738}"/>
              </a:ext>
            </a:extLst>
          </p:cNvPr>
          <p:cNvSpPr>
            <a:spLocks noGrp="1"/>
          </p:cNvSpPr>
          <p:nvPr/>
        </p:nvSpPr>
        <p:spPr>
          <a:xfrm>
            <a:off x="2095500" y="2667000"/>
            <a:ext cx="19050" cy="495300"/>
          </a:xfrm>
          <a:prstGeom prst="rect">
            <a:avLst/>
          </a:prstGeom>
          <a:solidFill>
            <a:srgbClr val="6873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CD6B0F4-2199-4088-AC07-D9B32FF6E969}"/>
              </a:ext>
            </a:extLst>
          </p:cNvPr>
          <p:cNvSpPr>
            <a:spLocks noGrp="1"/>
          </p:cNvSpPr>
          <p:nvPr/>
        </p:nvSpPr>
        <p:spPr>
          <a:xfrm>
            <a:off x="2095500" y="3162300"/>
            <a:ext cx="19050" cy="1085850"/>
          </a:xfrm>
          <a:prstGeom prst="rect">
            <a:avLst/>
          </a:prstGeom>
          <a:solidFill>
            <a:srgbClr val="6873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EBC8589-38A7-4BCF-A7E2-FCC97A477A33}"/>
              </a:ext>
            </a:extLst>
          </p:cNvPr>
          <p:cNvSpPr>
            <a:spLocks noGrp="1"/>
          </p:cNvSpPr>
          <p:nvPr/>
        </p:nvSpPr>
        <p:spPr>
          <a:xfrm>
            <a:off x="4514850" y="2667000"/>
            <a:ext cx="19050" cy="495300"/>
          </a:xfrm>
          <a:prstGeom prst="rect">
            <a:avLst/>
          </a:prstGeom>
          <a:solidFill>
            <a:srgbClr val="2E7D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2F18DAA-6A86-4E6A-A772-79E737D672E7}"/>
              </a:ext>
            </a:extLst>
          </p:cNvPr>
          <p:cNvSpPr>
            <a:spLocks noGrp="1"/>
          </p:cNvSpPr>
          <p:nvPr/>
        </p:nvSpPr>
        <p:spPr>
          <a:xfrm>
            <a:off x="4514850" y="3162300"/>
            <a:ext cx="19050" cy="10858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0B40DC6-46DD-45FC-87BE-8DB3C3E0075E}"/>
              </a:ext>
            </a:extLst>
          </p:cNvPr>
          <p:cNvSpPr>
            <a:spLocks noGrp="1"/>
          </p:cNvSpPr>
          <p:nvPr/>
        </p:nvSpPr>
        <p:spPr>
          <a:xfrm>
            <a:off x="7124700" y="3181350"/>
            <a:ext cx="819150" cy="19050"/>
          </a:xfrm>
          <a:prstGeom prst="rect">
            <a:avLst/>
          </a:prstGeom>
          <a:solidFill>
            <a:srgbClr val="D58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6C2125F-A03D-4631-BB2D-45FA428F831A}"/>
              </a:ext>
            </a:extLst>
          </p:cNvPr>
          <p:cNvSpPr>
            <a:spLocks noGrp="1"/>
          </p:cNvSpPr>
          <p:nvPr/>
        </p:nvSpPr>
        <p:spPr>
          <a:xfrm>
            <a:off x="9734550" y="3181350"/>
            <a:ext cx="628650" cy="19050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6821FE9-5D27-4BCA-B10A-BC670C553DB7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409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0182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01827"/>
                </a:solidFill>
                <a:latin typeface="Aptos Mono"/>
                <a:ea typeface="Aptos Mono"/>
                <a:cs typeface="Aptos Mono"/>
              </a:rPr>
              <a:t>.github/workflows/ci.yml + ci-backend.yml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CCE79C15-80C5-4A8B-8C77-13166DD1552F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Esto da evidencia repetible: no depende de ejecutar la demo manualmente para saber si el proyecto compila y prueba.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215E1DB-1105-40AD-9A08-24ED80FE3994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9525"/>
          </a:xfrm>
          <a:prstGeom prst="rect">
            <a:avLst/>
          </a:prstGeom>
          <a:solidFill>
            <a:srgbClr val="D9D3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80523ABB-BD7B-47D8-89E6-A5387BFC90AC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CI/CD: Maven, npm, ChromeHeadless, artifacts, Docker image build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5DEA3D5E-B7BF-4119-A4A2-2069354CEF82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E85F9413-FCB7-7860-A465-BA71D0B27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582" y="3835643"/>
            <a:ext cx="2635368" cy="206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636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ángulo 38">
            <a:extLst>
              <a:ext uri="{FF2B5EF4-FFF2-40B4-BE49-F238E27FC236}">
                <a16:creationId xmlns:a16="http://schemas.microsoft.com/office/drawing/2014/main" id="{5831B604-1792-4325-9A7D-CCBDC2995F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A830ABD-7AD2-47B2-A078-E531EDCAC1D7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95250" cy="95250"/>
          </a:xfrm>
          <a:prstGeom prst="rect">
            <a:avLst/>
          </a:prstGeom>
          <a:solidFill>
            <a:srgbClr val="2E7D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47DE844-0551-4C99-8AD3-6B3D347B0414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TESTING E INTEGRACION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DB975AC-7CE5-4473-B8EC-1DFED95001BE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La prueba local confirmo la cadena completa; quedan credenciales reales por configurar.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B861A42-D70D-400D-9EFA-7882570775CD}"/>
              </a:ext>
            </a:extLst>
          </p:cNvPr>
          <p:cNvSpPr>
            <a:spLocks noGrp="1"/>
          </p:cNvSpPr>
          <p:nvPr/>
        </p:nvSpPr>
        <p:spPr>
          <a:xfrm>
            <a:off x="838200" y="1790700"/>
            <a:ext cx="8858250" cy="438150"/>
          </a:xfrm>
          <a:prstGeom prst="rect">
            <a:avLst/>
          </a:prstGeom>
          <a:solidFill>
            <a:srgbClr val="FBFAF7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3679102-9D09-486C-9BDF-FDB4BA75EE06}"/>
              </a:ext>
            </a:extLst>
          </p:cNvPr>
          <p:cNvSpPr>
            <a:spLocks noGrp="1"/>
          </p:cNvSpPr>
          <p:nvPr/>
        </p:nvSpPr>
        <p:spPr>
          <a:xfrm>
            <a:off x="1047750" y="1905000"/>
            <a:ext cx="13811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397BCB9-6911-491F-931A-9026C265C612}"/>
              </a:ext>
            </a:extLst>
          </p:cNvPr>
          <p:cNvSpPr>
            <a:spLocks noGrp="1"/>
          </p:cNvSpPr>
          <p:nvPr/>
        </p:nvSpPr>
        <p:spPr>
          <a:xfrm>
            <a:off x="2667000" y="1905000"/>
            <a:ext cx="447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compile + test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308B94A-C228-4A2D-A8C7-1BAEB2088613}"/>
              </a:ext>
            </a:extLst>
          </p:cNvPr>
          <p:cNvSpPr>
            <a:spLocks noGrp="1"/>
          </p:cNvSpPr>
          <p:nvPr/>
        </p:nvSpPr>
        <p:spPr>
          <a:xfrm>
            <a:off x="8058150" y="1885950"/>
            <a:ext cx="1066800" cy="228600"/>
          </a:xfrm>
          <a:prstGeom prst="rect">
            <a:avLst/>
          </a:prstGeom>
          <a:solidFill>
            <a:srgbClr val="BFE4D1"/>
          </a:solidFill>
          <a:ln w="9525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660EC6D-CEDA-44FE-8EE3-109BF63E4E2F}"/>
              </a:ext>
            </a:extLst>
          </p:cNvPr>
          <p:cNvSpPr>
            <a:spLocks noGrp="1"/>
          </p:cNvSpPr>
          <p:nvPr/>
        </p:nvSpPr>
        <p:spPr>
          <a:xfrm>
            <a:off x="8210550" y="1943100"/>
            <a:ext cx="7620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718D062-CD46-4FC0-BEAA-0B274E26CA41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8858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6E742A3-2F71-4A7D-950E-C4EC7F2E8147}"/>
              </a:ext>
            </a:extLst>
          </p:cNvPr>
          <p:cNvSpPr>
            <a:spLocks noGrp="1"/>
          </p:cNvSpPr>
          <p:nvPr/>
        </p:nvSpPr>
        <p:spPr>
          <a:xfrm>
            <a:off x="1047750" y="2533650"/>
            <a:ext cx="13811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ReportService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0260B29-ACF6-4097-BDC4-DC92BA986299}"/>
              </a:ext>
            </a:extLst>
          </p:cNvPr>
          <p:cNvSpPr>
            <a:spLocks noGrp="1"/>
          </p:cNvSpPr>
          <p:nvPr/>
        </p:nvSpPr>
        <p:spPr>
          <a:xfrm>
            <a:off x="2667000" y="2533650"/>
            <a:ext cx="447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compile + arranque 8081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F9F0B8A-7124-46E3-852F-AE1548BD0897}"/>
              </a:ext>
            </a:extLst>
          </p:cNvPr>
          <p:cNvSpPr>
            <a:spLocks noGrp="1"/>
          </p:cNvSpPr>
          <p:nvPr/>
        </p:nvSpPr>
        <p:spPr>
          <a:xfrm>
            <a:off x="8058150" y="2514600"/>
            <a:ext cx="1066800" cy="228600"/>
          </a:xfrm>
          <a:prstGeom prst="rect">
            <a:avLst/>
          </a:prstGeom>
          <a:solidFill>
            <a:srgbClr val="BFE4D1"/>
          </a:solidFill>
          <a:ln w="9525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045C00F-0DEB-4004-B86D-E6354889F90B}"/>
              </a:ext>
            </a:extLst>
          </p:cNvPr>
          <p:cNvSpPr>
            <a:spLocks noGrp="1"/>
          </p:cNvSpPr>
          <p:nvPr/>
        </p:nvSpPr>
        <p:spPr>
          <a:xfrm>
            <a:off x="8210550" y="2571750"/>
            <a:ext cx="7620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F2A3B17-30D6-4B38-9907-779896602F9B}"/>
              </a:ext>
            </a:extLst>
          </p:cNvPr>
          <p:cNvSpPr>
            <a:spLocks noGrp="1"/>
          </p:cNvSpPr>
          <p:nvPr/>
        </p:nvSpPr>
        <p:spPr>
          <a:xfrm>
            <a:off x="838200" y="3048000"/>
            <a:ext cx="8858250" cy="438150"/>
          </a:xfrm>
          <a:prstGeom prst="rect">
            <a:avLst/>
          </a:prstGeom>
          <a:solidFill>
            <a:srgbClr val="FBFAF7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4138EE4-37B3-4A37-BB4A-398B7FC14C43}"/>
              </a:ext>
            </a:extLst>
          </p:cNvPr>
          <p:cNvSpPr>
            <a:spLocks noGrp="1"/>
          </p:cNvSpPr>
          <p:nvPr/>
        </p:nvSpPr>
        <p:spPr>
          <a:xfrm>
            <a:off x="1047750" y="3162300"/>
            <a:ext cx="13811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D7B53BD-15B5-4044-95A4-F63692091511}"/>
              </a:ext>
            </a:extLst>
          </p:cNvPr>
          <p:cNvSpPr>
            <a:spLocks noGrp="1"/>
          </p:cNvSpPr>
          <p:nvPr/>
        </p:nvSpPr>
        <p:spPr>
          <a:xfrm>
            <a:off x="2667000" y="3162300"/>
            <a:ext cx="447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npm run build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63F9A3C-5118-46E7-A8D0-5A15983A905A}"/>
              </a:ext>
            </a:extLst>
          </p:cNvPr>
          <p:cNvSpPr>
            <a:spLocks noGrp="1"/>
          </p:cNvSpPr>
          <p:nvPr/>
        </p:nvSpPr>
        <p:spPr>
          <a:xfrm>
            <a:off x="8058150" y="3143250"/>
            <a:ext cx="1066800" cy="228600"/>
          </a:xfrm>
          <a:prstGeom prst="rect">
            <a:avLst/>
          </a:prstGeom>
          <a:solidFill>
            <a:srgbClr val="BFE4D1"/>
          </a:solidFill>
          <a:ln w="9525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91F0EF0-CD9F-40B5-8BCF-0C4ED044BBCE}"/>
              </a:ext>
            </a:extLst>
          </p:cNvPr>
          <p:cNvSpPr>
            <a:spLocks noGrp="1"/>
          </p:cNvSpPr>
          <p:nvPr/>
        </p:nvSpPr>
        <p:spPr>
          <a:xfrm>
            <a:off x="8210550" y="3200400"/>
            <a:ext cx="7620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506EB77-E98A-487B-A738-DD0B2F3670DB}"/>
              </a:ext>
            </a:extLst>
          </p:cNvPr>
          <p:cNvSpPr>
            <a:spLocks noGrp="1"/>
          </p:cNvSpPr>
          <p:nvPr/>
        </p:nvSpPr>
        <p:spPr>
          <a:xfrm>
            <a:off x="838200" y="3676650"/>
            <a:ext cx="8858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E002CA8-2A2F-4EE8-B3BD-EB7AF9CE63AA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13811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Integracion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4649829-448A-4E7F-B2BD-5D9EF2F45FC1}"/>
              </a:ext>
            </a:extLst>
          </p:cNvPr>
          <p:cNvSpPr>
            <a:spLocks noGrp="1"/>
          </p:cNvSpPr>
          <p:nvPr/>
        </p:nvSpPr>
        <p:spPr>
          <a:xfrm>
            <a:off x="2667000" y="3790950"/>
            <a:ext cx="447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4200 -&gt; 8080 -&gt; 8081 -&gt; MySQL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C5D684D-C4DE-4EEC-958C-D8C8B0241A1A}"/>
              </a:ext>
            </a:extLst>
          </p:cNvPr>
          <p:cNvSpPr>
            <a:spLocks noGrp="1"/>
          </p:cNvSpPr>
          <p:nvPr/>
        </p:nvSpPr>
        <p:spPr>
          <a:xfrm>
            <a:off x="8058150" y="3771900"/>
            <a:ext cx="1066800" cy="228600"/>
          </a:xfrm>
          <a:prstGeom prst="rect">
            <a:avLst/>
          </a:prstGeom>
          <a:solidFill>
            <a:srgbClr val="BFE4D1"/>
          </a:solidFill>
          <a:ln w="9525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6460A1A-F5C5-4196-A297-BE50952A9EBD}"/>
              </a:ext>
            </a:extLst>
          </p:cNvPr>
          <p:cNvSpPr>
            <a:spLocks noGrp="1"/>
          </p:cNvSpPr>
          <p:nvPr/>
        </p:nvSpPr>
        <p:spPr>
          <a:xfrm>
            <a:off x="8210550" y="3829050"/>
            <a:ext cx="7620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90FB764-F693-4857-9E4A-0281F3898C6C}"/>
              </a:ext>
            </a:extLst>
          </p:cNvPr>
          <p:cNvSpPr>
            <a:spLocks noGrp="1"/>
          </p:cNvSpPr>
          <p:nvPr/>
        </p:nvSpPr>
        <p:spPr>
          <a:xfrm>
            <a:off x="838200" y="4305300"/>
            <a:ext cx="8858250" cy="438150"/>
          </a:xfrm>
          <a:prstGeom prst="rect">
            <a:avLst/>
          </a:prstGeom>
          <a:solidFill>
            <a:srgbClr val="FBFAF7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0F406F5-A9EC-4D6C-AF1D-4AF348D4C371}"/>
              </a:ext>
            </a:extLst>
          </p:cNvPr>
          <p:cNvSpPr>
            <a:spLocks noGrp="1"/>
          </p:cNvSpPr>
          <p:nvPr/>
        </p:nvSpPr>
        <p:spPr>
          <a:xfrm>
            <a:off x="1047750" y="4419600"/>
            <a:ext cx="13811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OpenAI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30F5F2-E3FA-4A65-B431-18A895A4804A}"/>
              </a:ext>
            </a:extLst>
          </p:cNvPr>
          <p:cNvSpPr>
            <a:spLocks noGrp="1"/>
          </p:cNvSpPr>
          <p:nvPr/>
        </p:nvSpPr>
        <p:spPr>
          <a:xfrm>
            <a:off x="2667000" y="4419600"/>
            <a:ext cx="447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key placeholder genera fallback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B6CFA89-F3E3-4D24-835A-EE0B40BB40F8}"/>
              </a:ext>
            </a:extLst>
          </p:cNvPr>
          <p:cNvSpPr>
            <a:spLocks noGrp="1"/>
          </p:cNvSpPr>
          <p:nvPr/>
        </p:nvSpPr>
        <p:spPr>
          <a:xfrm>
            <a:off x="8058150" y="4400550"/>
            <a:ext cx="1066800" cy="228600"/>
          </a:xfrm>
          <a:prstGeom prst="rect">
            <a:avLst/>
          </a:prstGeom>
          <a:solidFill>
            <a:srgbClr val="F4D19D"/>
          </a:solidFill>
          <a:ln w="9525">
            <a:solidFill>
              <a:srgbClr val="D58A2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47AA2C2-C422-48E6-8D1F-57B586167E7B}"/>
              </a:ext>
            </a:extLst>
          </p:cNvPr>
          <p:cNvSpPr>
            <a:spLocks noGrp="1"/>
          </p:cNvSpPr>
          <p:nvPr/>
        </p:nvSpPr>
        <p:spPr>
          <a:xfrm>
            <a:off x="8210550" y="4457700"/>
            <a:ext cx="7620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6B3D07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B3D07"/>
                </a:solidFill>
                <a:latin typeface="Aptos"/>
                <a:ea typeface="Aptos"/>
                <a:cs typeface="Aptos"/>
              </a:rPr>
              <a:t>PENDIENTE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520A7FB-0D37-48B2-8E81-516E236AAEB0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8858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CD4CC41-AA68-4183-8543-36D2AF67505B}"/>
              </a:ext>
            </a:extLst>
          </p:cNvPr>
          <p:cNvSpPr>
            <a:spLocks noGrp="1"/>
          </p:cNvSpPr>
          <p:nvPr/>
        </p:nvSpPr>
        <p:spPr>
          <a:xfrm>
            <a:off x="1047750" y="5048250"/>
            <a:ext cx="13811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Gmail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6A1C21C4-00EA-4F11-A18A-1EE2B39D1EC1}"/>
              </a:ext>
            </a:extLst>
          </p:cNvPr>
          <p:cNvSpPr>
            <a:spLocks noGrp="1"/>
          </p:cNvSpPr>
          <p:nvPr/>
        </p:nvSpPr>
        <p:spPr>
          <a:xfrm>
            <a:off x="2667000" y="5048250"/>
            <a:ext cx="447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app password invalida: error 535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788F7A9-F83B-485B-BCCA-BC2B0A6EE662}"/>
              </a:ext>
            </a:extLst>
          </p:cNvPr>
          <p:cNvSpPr>
            <a:spLocks noGrp="1"/>
          </p:cNvSpPr>
          <p:nvPr/>
        </p:nvSpPr>
        <p:spPr>
          <a:xfrm>
            <a:off x="8058150" y="5029200"/>
            <a:ext cx="1066800" cy="228600"/>
          </a:xfrm>
          <a:prstGeom prst="rect">
            <a:avLst/>
          </a:prstGeom>
          <a:solidFill>
            <a:srgbClr val="F4D19D"/>
          </a:solidFill>
          <a:ln w="9525">
            <a:solidFill>
              <a:srgbClr val="D58A2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F0DF8C5-8063-41EC-8D51-CA6A5FB8DFE6}"/>
              </a:ext>
            </a:extLst>
          </p:cNvPr>
          <p:cNvSpPr>
            <a:spLocks noGrp="1"/>
          </p:cNvSpPr>
          <p:nvPr/>
        </p:nvSpPr>
        <p:spPr>
          <a:xfrm>
            <a:off x="8210550" y="5086350"/>
            <a:ext cx="7620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6B3D07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B3D07"/>
                </a:solidFill>
                <a:latin typeface="Aptos"/>
                <a:ea typeface="Aptos"/>
                <a:cs typeface="Aptos"/>
              </a:rPr>
              <a:t>PENDIENTE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96CAFEF7-267A-497B-B13E-02F99BDA27FE}"/>
              </a:ext>
            </a:extLst>
          </p:cNvPr>
          <p:cNvSpPr>
            <a:spLocks noGrp="1"/>
          </p:cNvSpPr>
          <p:nvPr/>
        </p:nvSpPr>
        <p:spPr>
          <a:xfrm>
            <a:off x="838200" y="5753100"/>
            <a:ext cx="895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Lectura de prueba: se detectaron 2 ordenes, $199.000 en ventas y un producto top. El envio fallo por credencial Gmail, no por codigo.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EAD887A-E5C0-424B-9B04-74D8BA6AC90D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9525"/>
          </a:xfrm>
          <a:prstGeom prst="rect">
            <a:avLst/>
          </a:prstGeom>
          <a:solidFill>
            <a:srgbClr val="D9D3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B4064560-D34A-4B50-9250-D9019B6FD82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Validacion local 2026-05-02 | requiere OPENAI_API_KEY y GMAIL_PASSWORD reales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64226705-DDF0-4984-B44E-E8CC4A05D250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23151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27">
            <a:extLst>
              <a:ext uri="{FF2B5EF4-FFF2-40B4-BE49-F238E27FC236}">
                <a16:creationId xmlns:a16="http://schemas.microsoft.com/office/drawing/2014/main" id="{C93E121B-2D21-4CC1-B46E-655B2569EC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F5D7225-D186-4D50-956A-333C115DC0BF}"/>
              </a:ext>
            </a:extLst>
          </p:cNvPr>
          <p:cNvSpPr>
            <a:spLocks noGrp="1"/>
          </p:cNvSpPr>
          <p:nvPr/>
        </p:nvSpPr>
        <p:spPr>
          <a:xfrm>
            <a:off x="552450" y="476250"/>
            <a:ext cx="95250" cy="95250"/>
          </a:xfrm>
          <a:prstGeom prst="rect">
            <a:avLst/>
          </a:prstGeom>
          <a:solidFill>
            <a:srgbClr val="D58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FB4A6FE-7E7B-4F93-8B3F-E4E37EDD468B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DE6F3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39A09C9-4A07-4A7C-B5C7-AE13438F730E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FoodTrack queda listo para demo tecnica y mejora incremental.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10113B6-259E-48BB-8877-2ADE6077210C}"/>
              </a:ext>
            </a:extLst>
          </p:cNvPr>
          <p:cNvSpPr>
            <a:spLocks noGrp="1"/>
          </p:cNvSpPr>
          <p:nvPr/>
        </p:nvSpPr>
        <p:spPr>
          <a:xfrm>
            <a:off x="742950" y="2095500"/>
            <a:ext cx="9525" cy="533400"/>
          </a:xfrm>
          <a:prstGeom prst="rect">
            <a:avLst/>
          </a:prstGeom>
          <a:solidFill>
            <a:srgbClr val="2E7D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252904F-82A4-4D53-903F-127057660186}"/>
              </a:ext>
            </a:extLst>
          </p:cNvPr>
          <p:cNvSpPr>
            <a:spLocks noGrp="1"/>
          </p:cNvSpPr>
          <p:nvPr/>
        </p:nvSpPr>
        <p:spPr>
          <a:xfrm>
            <a:off x="876300" y="2057400"/>
            <a:ext cx="2247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Hecho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0C35BBC-3767-4D53-82AD-3B13E5170D25}"/>
              </a:ext>
            </a:extLst>
          </p:cNvPr>
          <p:cNvSpPr>
            <a:spLocks noGrp="1"/>
          </p:cNvSpPr>
          <p:nvPr/>
        </p:nvSpPr>
        <p:spPr>
          <a:xfrm>
            <a:off x="876300" y="2419350"/>
            <a:ext cx="2247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B6C1D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6C1D4"/>
                </a:solidFill>
                <a:latin typeface="Aptos"/>
                <a:ea typeface="Aptos"/>
                <a:cs typeface="Aptos"/>
              </a:rPr>
              <a:t>API externa integrada con datos reales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CA0C070-A011-461A-9A56-4D6F2D4BB9DE}"/>
              </a:ext>
            </a:extLst>
          </p:cNvPr>
          <p:cNvSpPr>
            <a:spLocks noGrp="1"/>
          </p:cNvSpPr>
          <p:nvPr/>
        </p:nvSpPr>
        <p:spPr>
          <a:xfrm>
            <a:off x="3714750" y="2095500"/>
            <a:ext cx="9525" cy="5334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277A6F3-D37A-4676-BBC2-B333D2DDCE90}"/>
              </a:ext>
            </a:extLst>
          </p:cNvPr>
          <p:cNvSpPr>
            <a:spLocks noGrp="1"/>
          </p:cNvSpPr>
          <p:nvPr/>
        </p:nvSpPr>
        <p:spPr>
          <a:xfrm>
            <a:off x="3848100" y="2057400"/>
            <a:ext cx="2438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Hecho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599C666-CABF-4476-911E-06ACF5F5F442}"/>
              </a:ext>
            </a:extLst>
          </p:cNvPr>
          <p:cNvSpPr>
            <a:spLocks noGrp="1"/>
          </p:cNvSpPr>
          <p:nvPr/>
        </p:nvSpPr>
        <p:spPr>
          <a:xfrm>
            <a:off x="3848100" y="2419350"/>
            <a:ext cx="2438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B6C1D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6C1D4"/>
                </a:solidFill>
                <a:latin typeface="Aptos"/>
                <a:ea typeface="Aptos"/>
                <a:cs typeface="Aptos"/>
              </a:rPr>
              <a:t>Boton manual + scheduler configurable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D058AB7-6D5C-49E0-948B-45B3F567DD84}"/>
              </a:ext>
            </a:extLst>
          </p:cNvPr>
          <p:cNvSpPr>
            <a:spLocks noGrp="1"/>
          </p:cNvSpPr>
          <p:nvPr/>
        </p:nvSpPr>
        <p:spPr>
          <a:xfrm>
            <a:off x="6858000" y="2095500"/>
            <a:ext cx="9525" cy="533400"/>
          </a:xfrm>
          <a:prstGeom prst="rect">
            <a:avLst/>
          </a:prstGeom>
          <a:solidFill>
            <a:srgbClr val="D58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A32470D-C213-463E-9F81-2709D457E45B}"/>
              </a:ext>
            </a:extLst>
          </p:cNvPr>
          <p:cNvSpPr>
            <a:spLocks noGrp="1"/>
          </p:cNvSpPr>
          <p:nvPr/>
        </p:nvSpPr>
        <p:spPr>
          <a:xfrm>
            <a:off x="6991350" y="2057400"/>
            <a:ext cx="2438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Hecho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ED273AC-E36C-452C-9C63-D26B5C1EE61D}"/>
              </a:ext>
            </a:extLst>
          </p:cNvPr>
          <p:cNvSpPr>
            <a:spLocks noGrp="1"/>
          </p:cNvSpPr>
          <p:nvPr/>
        </p:nvSpPr>
        <p:spPr>
          <a:xfrm>
            <a:off x="6991350" y="2419350"/>
            <a:ext cx="2438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B6C1D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6C1D4"/>
                </a:solidFill>
                <a:latin typeface="Aptos"/>
                <a:ea typeface="Aptos"/>
                <a:cs typeface="Aptos"/>
              </a:rPr>
              <a:t>Multi-admin email con manejo parcial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4D68A7E-01BB-407E-8662-1D287CA93057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4762500" cy="2057400"/>
          </a:xfrm>
          <a:prstGeom prst="rect">
            <a:avLst/>
          </a:prstGeom>
          <a:solidFill>
            <a:srgbClr val="172033"/>
          </a:solidFill>
          <a:ln w="9525">
            <a:solidFill>
              <a:srgbClr val="2A344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759FC26-868B-435D-94C8-35C4FB949B8D}"/>
              </a:ext>
            </a:extLst>
          </p:cNvPr>
          <p:cNvSpPr>
            <a:spLocks noGrp="1"/>
          </p:cNvSpPr>
          <p:nvPr/>
        </p:nvSpPr>
        <p:spPr>
          <a:xfrm>
            <a:off x="1066800" y="35623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Siguientes pasos recomendados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4210A70-B840-46BE-BFC8-CBF839E4E131}"/>
              </a:ext>
            </a:extLst>
          </p:cNvPr>
          <p:cNvSpPr>
            <a:spLocks noGrp="1"/>
          </p:cNvSpPr>
          <p:nvPr/>
        </p:nvSpPr>
        <p:spPr>
          <a:xfrm>
            <a:off x="1085850" y="4067175"/>
            <a:ext cx="66675" cy="66675"/>
          </a:xfrm>
          <a:prstGeom prst="rect">
            <a:avLst/>
          </a:prstGeom>
          <a:solidFill>
            <a:srgbClr val="D58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68C986C-AED9-4B92-B6F5-453664921784}"/>
              </a:ext>
            </a:extLst>
          </p:cNvPr>
          <p:cNvSpPr>
            <a:spLocks noGrp="1"/>
          </p:cNvSpPr>
          <p:nvPr/>
        </p:nvSpPr>
        <p:spPr>
          <a:xfrm>
            <a:off x="1257300" y="4000500"/>
            <a:ext cx="3829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6F3"/>
                </a:solidFill>
                <a:latin typeface="Aptos"/>
                <a:ea typeface="Aptos"/>
                <a:cs typeface="Aptos"/>
              </a:rPr>
              <a:t>Configurar app password real de Gmail y key real de OpenAI.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8F673F5-69FD-4FAC-ADF5-D91B16DD9D6C}"/>
              </a:ext>
            </a:extLst>
          </p:cNvPr>
          <p:cNvSpPr>
            <a:spLocks noGrp="1"/>
          </p:cNvSpPr>
          <p:nvPr/>
        </p:nvSpPr>
        <p:spPr>
          <a:xfrm>
            <a:off x="1085850" y="4505325"/>
            <a:ext cx="66675" cy="66675"/>
          </a:xfrm>
          <a:prstGeom prst="rect">
            <a:avLst/>
          </a:prstGeom>
          <a:solidFill>
            <a:srgbClr val="2E7D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79A09B5-553B-44AE-980B-37D209343A56}"/>
              </a:ext>
            </a:extLst>
          </p:cNvPr>
          <p:cNvSpPr>
            <a:spLocks noGrp="1"/>
          </p:cNvSpPr>
          <p:nvPr/>
        </p:nvSpPr>
        <p:spPr>
          <a:xfrm>
            <a:off x="1257300" y="4438650"/>
            <a:ext cx="3829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6F3"/>
                </a:solidFill>
                <a:latin typeface="Aptos"/>
                <a:ea typeface="Aptos"/>
                <a:cs typeface="Aptos"/>
              </a:rPr>
              <a:t>Agregar Flyway/Liquibase para versionar esquema de BD.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A59229E-F0A0-4286-9106-BEE8E950C93C}"/>
              </a:ext>
            </a:extLst>
          </p:cNvPr>
          <p:cNvSpPr>
            <a:spLocks noGrp="1"/>
          </p:cNvSpPr>
          <p:nvPr/>
        </p:nvSpPr>
        <p:spPr>
          <a:xfrm>
            <a:off x="1085850" y="4943475"/>
            <a:ext cx="66675" cy="666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28B4832-F4F1-4AD4-9172-E6C8E5CFE28D}"/>
              </a:ext>
            </a:extLst>
          </p:cNvPr>
          <p:cNvSpPr>
            <a:spLocks noGrp="1"/>
          </p:cNvSpPr>
          <p:nvPr/>
        </p:nvSpPr>
        <p:spPr>
          <a:xfrm>
            <a:off x="1257300" y="4876800"/>
            <a:ext cx="3829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DDE6F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DE6F3"/>
                </a:solidFill>
                <a:latin typeface="Aptos"/>
                <a:ea typeface="Aptos"/>
                <a:cs typeface="Aptos"/>
              </a:rPr>
              <a:t>Guardar historico de reportes enviados y auditoria por destinatario.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2152F52-254F-4EB6-B74C-4CC4D9E2548C}"/>
              </a:ext>
            </a:extLst>
          </p:cNvPr>
          <p:cNvSpPr>
            <a:spLocks noGrp="1"/>
          </p:cNvSpPr>
          <p:nvPr/>
        </p:nvSpPr>
        <p:spPr>
          <a:xfrm>
            <a:off x="6667500" y="3333750"/>
            <a:ext cx="3714750" cy="2057400"/>
          </a:xfrm>
          <a:prstGeom prst="rect">
            <a:avLst/>
          </a:prstGeom>
          <a:solidFill>
            <a:srgbClr val="172033"/>
          </a:solidFill>
          <a:ln w="9525">
            <a:solidFill>
              <a:srgbClr val="2A344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E3C4996-09AF-4AC3-9AC3-ECD630FCE677}"/>
              </a:ext>
            </a:extLst>
          </p:cNvPr>
          <p:cNvSpPr>
            <a:spLocks noGrp="1"/>
          </p:cNvSpPr>
          <p:nvPr/>
        </p:nvSpPr>
        <p:spPr>
          <a:xfrm>
            <a:off x="6896100" y="356235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Mensaje final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FEBFB76-5B9E-42E9-94C5-673E1E18204F}"/>
              </a:ext>
            </a:extLst>
          </p:cNvPr>
          <p:cNvSpPr>
            <a:spLocks noGrp="1"/>
          </p:cNvSpPr>
          <p:nvPr/>
        </p:nvSpPr>
        <p:spPr>
          <a:xfrm>
            <a:off x="6896100" y="4000500"/>
            <a:ext cx="29527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DE6F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DE6F3"/>
                </a:solidFill>
                <a:latin typeface="Aptos Display"/>
                <a:ea typeface="Aptos Display"/>
                <a:cs typeface="Aptos Display"/>
              </a:rPr>
              <a:t>El proyecto no solo vende y administra restaurante: tambien automatiza inteligencia operativa diaria desde la misma base de datos.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B98E382-4B03-4C33-A28F-4935121CF748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9525"/>
          </a:xfrm>
          <a:prstGeom prst="rect">
            <a:avLst/>
          </a:prstGeom>
          <a:solidFill>
            <a:srgbClr val="2A344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15BA0A1-6DAC-4928-91C6-DBE5EAC696B3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AAB6C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AAB6C8"/>
                </a:solidFill>
                <a:latin typeface="Aptos"/>
                <a:ea typeface="Aptos"/>
                <a:cs typeface="Aptos"/>
              </a:rPr>
              <a:t>FoodTrack technical presentation | backend + frontend + ReportService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7DB45CF-3788-45C0-A597-996A290B733B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520848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1316</Words>
  <Application>Microsoft Office PowerPoint</Application>
  <DocSecurity>0</DocSecurity>
  <PresentationFormat>Panorámica</PresentationFormat>
  <Paragraphs>234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Aptos Mono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JACOB DAVID MUÑOZ SALAS</cp:lastModifiedBy>
  <cp:revision>1</cp:revision>
  <dcterms:created xsi:type="dcterms:W3CDTF">2026-05-03T03:08:38Z</dcterms:created>
  <dcterms:modified xsi:type="dcterms:W3CDTF">2026-05-03T03:56:10Z</dcterms:modified>
</cp:coreProperties>
</file>