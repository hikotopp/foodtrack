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1d805b4504637" /><Relationship Type="http://schemas.openxmlformats.org/officeDocument/2006/relationships/extended-properties" Target="/docProps/app.xml" Id="Rc9a7c873419044ef" /><Relationship Type="http://schemas.openxmlformats.org/officeDocument/2006/relationships/officeDocument" Target="/ppt/presentation.xml" Id="R2b34a5ddc716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56466020844b46"/>
  </p:sldMasterIdLst>
  <p:notesMasterIdLst>
    <p:notesMasterId xmlns:r="http://schemas.openxmlformats.org/officeDocument/2006/relationships" r:id="Rf43d090c76564338"/>
  </p:notesMasterIdLst>
  <p:sldIdLst>
    <p:sldId xmlns:r="http://schemas.openxmlformats.org/officeDocument/2006/relationships" id="256" r:id="R1c0aadf4668c44fd"/>
    <p:sldId xmlns:r="http://schemas.openxmlformats.org/officeDocument/2006/relationships" id="257" r:id="R1ab86f901eed4e71"/>
    <p:sldId xmlns:r="http://schemas.openxmlformats.org/officeDocument/2006/relationships" id="258" r:id="Rf1f44d0387c2440c"/>
    <p:sldId xmlns:r="http://schemas.openxmlformats.org/officeDocument/2006/relationships" id="259" r:id="R127baeeaf2cb47c0"/>
    <p:sldId xmlns:r="http://schemas.openxmlformats.org/officeDocument/2006/relationships" id="260" r:id="R63ca7c421aad4148"/>
    <p:sldId xmlns:r="http://schemas.openxmlformats.org/officeDocument/2006/relationships" id="261" r:id="R840912e253ab4057"/>
    <p:sldId xmlns:r="http://schemas.openxmlformats.org/officeDocument/2006/relationships" id="262" r:id="R920587f4068a43a7"/>
    <p:sldId xmlns:r="http://schemas.openxmlformats.org/officeDocument/2006/relationships" id="263" r:id="R570d03559d8b42d4"/>
    <p:sldId xmlns:r="http://schemas.openxmlformats.org/officeDocument/2006/relationships" id="264" r:id="R05b1a619e69c4d9b"/>
    <p:sldId xmlns:r="http://schemas.openxmlformats.org/officeDocument/2006/relationships" id="265" r:id="Re603db1e8ad444be"/>
    <p:sldId xmlns:r="http://schemas.openxmlformats.org/officeDocument/2006/relationships" id="266" r:id="Rd4a2d0248fd149a9"/>
    <p:sldId xmlns:r="http://schemas.openxmlformats.org/officeDocument/2006/relationships" id="267" r:id="Rc84b67e3f89a4b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56466020844b46" /><Relationship Type="http://schemas.openxmlformats.org/officeDocument/2006/relationships/theme" Target="/ppt/theme/theme1.xml" Id="Rd4e501a87eb14921" /><Relationship Type="http://schemas.openxmlformats.org/officeDocument/2006/relationships/notesMaster" Target="/ppt/notesMasters/notesMaster1.xml" Id="Rf43d090c76564338" /><Relationship Type="http://schemas.openxmlformats.org/officeDocument/2006/relationships/presProps" Target="/ppt/presProps.xml" Id="R2c9eaf38c12c4d33" /><Relationship Type="http://schemas.openxmlformats.org/officeDocument/2006/relationships/viewProps" Target="/ppt/viewProps.xml" Id="Rf74ae5438311475b" /><Relationship Type="http://schemas.openxmlformats.org/officeDocument/2006/relationships/tableStyles" Target="/ppt/tableStyles.xml" Id="R9b9b46c6314c4918" /><Relationship Type="http://schemas.openxmlformats.org/officeDocument/2006/relationships/slide" Target="/ppt/slides/slide1.xml" Id="R1c0aadf4668c44fd" /><Relationship Type="http://schemas.openxmlformats.org/officeDocument/2006/relationships/slide" Target="/ppt/slides/slide2.xml" Id="R1ab86f901eed4e71" /><Relationship Type="http://schemas.openxmlformats.org/officeDocument/2006/relationships/slide" Target="/ppt/slides/slide3.xml" Id="Rf1f44d0387c2440c" /><Relationship Type="http://schemas.openxmlformats.org/officeDocument/2006/relationships/slide" Target="/ppt/slides/slide4.xml" Id="R127baeeaf2cb47c0" /><Relationship Type="http://schemas.openxmlformats.org/officeDocument/2006/relationships/slide" Target="/ppt/slides/slide5.xml" Id="R63ca7c421aad4148" /><Relationship Type="http://schemas.openxmlformats.org/officeDocument/2006/relationships/slide" Target="/ppt/slides/slide6.xml" Id="R840912e253ab4057" /><Relationship Type="http://schemas.openxmlformats.org/officeDocument/2006/relationships/slide" Target="/ppt/slides/slide7.xml" Id="R920587f4068a43a7" /><Relationship Type="http://schemas.openxmlformats.org/officeDocument/2006/relationships/slide" Target="/ppt/slides/slide8.xml" Id="R570d03559d8b42d4" /><Relationship Type="http://schemas.openxmlformats.org/officeDocument/2006/relationships/slide" Target="/ppt/slides/slide9.xml" Id="R05b1a619e69c4d9b" /><Relationship Type="http://schemas.openxmlformats.org/officeDocument/2006/relationships/slide" Target="/ppt/slides/slide10.xml" Id="Re603db1e8ad444be" /><Relationship Type="http://schemas.openxmlformats.org/officeDocument/2006/relationships/slide" Target="/ppt/slides/slide11.xml" Id="Rd4a2d0248fd149a9" /><Relationship Type="http://schemas.openxmlformats.org/officeDocument/2006/relationships/slide" Target="/ppt/slides/slide12.xml" Id="Rc84b67e3f89a4b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ce5e64e85342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4139bb13dd4e67" /><Relationship Type="http://schemas.openxmlformats.org/officeDocument/2006/relationships/notesMaster" Target="/ppt/notesMasters/notesMaster1.xml" Id="Rccda4d0881534b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36e8dbc539491b" /><Relationship Type="http://schemas.openxmlformats.org/officeDocument/2006/relationships/notesMaster" Target="/ppt/notesMasters/notesMaster1.xml" Id="Rb2dcc1685d2c4d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dc92093e954647" /><Relationship Type="http://schemas.openxmlformats.org/officeDocument/2006/relationships/notesMaster" Target="/ppt/notesMasters/notesMaster1.xml" Id="Rfd156918a1c0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62345e48646a2" /><Relationship Type="http://schemas.openxmlformats.org/officeDocument/2006/relationships/notesMaster" Target="/ppt/notesMasters/notesMaster1.xml" Id="Rc15cfe994cea44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3807ed7c64f8e" /><Relationship Type="http://schemas.openxmlformats.org/officeDocument/2006/relationships/notesMaster" Target="/ppt/notesMasters/notesMaster1.xml" Id="R0af4eb6ce1854f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6a63f3f8ed4634" /><Relationship Type="http://schemas.openxmlformats.org/officeDocument/2006/relationships/notesMaster" Target="/ppt/notesMasters/notesMaster1.xml" Id="R836420b7a3b24a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c1e3826e924832" /><Relationship Type="http://schemas.openxmlformats.org/officeDocument/2006/relationships/notesMaster" Target="/ppt/notesMasters/notesMaster1.xml" Id="Redc48b8b500b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8929cccca4a95" /><Relationship Type="http://schemas.openxmlformats.org/officeDocument/2006/relationships/notesMaster" Target="/ppt/notesMasters/notesMaster1.xml" Id="Rc523dbc4cecc43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2f2ebed97749f3" /><Relationship Type="http://schemas.openxmlformats.org/officeDocument/2006/relationships/notesMaster" Target="/ppt/notesMasters/notesMaster1.xml" Id="R29cca1938d9e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03e69194c54e37" /><Relationship Type="http://schemas.openxmlformats.org/officeDocument/2006/relationships/notesMaster" Target="/ppt/notesMasters/notesMaster1.xml" Id="Rcb26b8cc569348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c57ce3aace4b33" /><Relationship Type="http://schemas.openxmlformats.org/officeDocument/2006/relationships/notesMaster" Target="/ppt/notesMasters/notesMaster1.xml" Id="R6827d6938ed442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cdadedcdc24308" /><Relationship Type="http://schemas.openxmlformats.org/officeDocument/2006/relationships/notesMaster" Target="/ppt/notesMasters/notesMaster1.xml" Id="R0409c5ec62e94d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ef7350d8345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b9178ec2c843af" /><Relationship Type="http://schemas.openxmlformats.org/officeDocument/2006/relationships/slideLayout" Target="/ppt/slideLayouts/slideLayout2.xml" Id="Rd5e6ad026ae94f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e6ad026ae94f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b65e3cb7e94489" /><Relationship Type="http://schemas.openxmlformats.org/officeDocument/2006/relationships/image" Target="/ppt/media/image.png" Id="Ra818d84a0e5a4c15" /><Relationship Type="http://schemas.openxmlformats.org/officeDocument/2006/relationships/image" Target="/ppt/media/image2.png" Id="R877982929ac449b3" /><Relationship Type="http://schemas.openxmlformats.org/officeDocument/2006/relationships/notesSlide" Target="/ppt/notesSlides/notesSlide1.xml" Id="R2560f0b2ff8e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789f6fab1248ea" /><Relationship Type="http://schemas.openxmlformats.org/officeDocument/2006/relationships/notesSlide" Target="/ppt/notesSlides/notesSlide2.xml" Id="R4d8039eec20e47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0d648facd243f2" /><Relationship Type="http://schemas.openxmlformats.org/officeDocument/2006/relationships/notesSlide" Target="/ppt/notesSlides/notesSlide3.xml" Id="Re2471af51a444c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135bbaea304531" /><Relationship Type="http://schemas.openxmlformats.org/officeDocument/2006/relationships/image" Target="/ppt/media/image3.png" Id="R247a415cf7e74610" /><Relationship Type="http://schemas.openxmlformats.org/officeDocument/2006/relationships/image" Target="/ppt/media/image4.png" Id="R1c51412885bf4fe3" /><Relationship Type="http://schemas.openxmlformats.org/officeDocument/2006/relationships/notesSlide" Target="/ppt/notesSlides/notesSlide4.xml" Id="R404317e722fc4d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6eb5d62ab4b4f" /><Relationship Type="http://schemas.openxmlformats.org/officeDocument/2006/relationships/notesSlide" Target="/ppt/notesSlides/notesSlide5.xml" Id="Reb2c0e2195c645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61b5c3ef34d80" /><Relationship Type="http://schemas.openxmlformats.org/officeDocument/2006/relationships/notesSlide" Target="/ppt/notesSlides/notesSlide6.xml" Id="R7a721f9dce5243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9b807dd28462b" /><Relationship Type="http://schemas.openxmlformats.org/officeDocument/2006/relationships/notesSlide" Target="/ppt/notesSlides/notesSlide7.xml" Id="R032777d87e374d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ea82f9b68e43c7" /><Relationship Type="http://schemas.openxmlformats.org/officeDocument/2006/relationships/notesSlide" Target="/ppt/notesSlides/notesSlide8.xml" Id="Ra39a2b9ade4b4e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de64e7bf14aa2" /><Relationship Type="http://schemas.openxmlformats.org/officeDocument/2006/relationships/notesSlide" Target="/ppt/notesSlides/notesSlide9.xml" Id="R2dcb0a98a16a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26e30208746e1" /><Relationship Type="http://schemas.openxmlformats.org/officeDocument/2006/relationships/notesSlide" Target="/ppt/notesSlides/notesSlide10.xml" Id="R05470c58d7684b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e30623da4042a5" /><Relationship Type="http://schemas.openxmlformats.org/officeDocument/2006/relationships/notesSlide" Target="/ppt/notesSlides/notesSlide11.xml" Id="R5551f5767b5c45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c87c6b857e4e89" /><Relationship Type="http://schemas.openxmlformats.org/officeDocument/2006/relationships/notesSlide" Target="/ppt/notesSlides/notesSlide12.xml" Id="R28e9a38b86904c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5CF62-5966-4AB8-8AE4-D05254D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E1074-CDF6-4215-91E7-F71F4AEB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E4D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4D1"/>
                </a:solidFill>
                <a:latin typeface="Aptos"/>
                <a:ea typeface="Aptos"/>
                <a:cs typeface="Aptos"/>
              </a:rPr>
              <a:t>FOODTRACK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640E6-18BB-41F8-9932-1BC76E37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Presentacion tecnica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AAD44-EE64-4B54-9890-4668660C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477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Gestion de restaurante con reportes IA externos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DC1C2-93E8-468A-953D-88E15F35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61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Arquitectura Spring Boot + Angular + MySQL, integrada con una API externa que genera reportes diarios con OpenAI y envia correo a administradores.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9049F-6C20-4B2C-9752-32948DC4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B0C7C-6793-4FBD-B73C-8D1D51A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8080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D66A2-B789-420E-A196-314D582E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Backend principal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9DE4B-1388-4730-8FBD-D1AD60F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B2FF6-DF6B-4156-817B-22AA2DA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529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8081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D7903-0C79-4081-AC9F-35E0059A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149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ReportService externo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546D9-DEDD-40C0-80E7-70A2590D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91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74690-39D0-4FDC-9E0B-F04AB10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529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51474-584D-4950-8C7D-1F49EE54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149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Scheduler diario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A9F6A-A891-42D1-9F0C-1B428AF2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866775"/>
            <a:ext cx="39814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1B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8d84a0e5a4c15"/>
          <a:srcRect xmlns:a="http://schemas.openxmlformats.org/drawingml/2006/main" l="0" t="111" r="0" b="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904875"/>
            <a:ext cx="3905250" cy="2190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89644-7DD2-4525-B6BF-F35DC6C2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Frontend FoodTrack - home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B5EBB-4C42-4629-8CDD-6A9C46CF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05200"/>
            <a:ext cx="34099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1B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982929ac449b3"/>
          <a:srcRect xmlns:a="http://schemas.openxmlformats.org/drawingml/2006/main" l="0" t="198" r="0" b="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3543300"/>
            <a:ext cx="3333750" cy="18669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AC2EB-3900-4A8B-ACDA-E4C748BB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0545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Pantalla de acceso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EE476-40D6-4B46-98F5-B768ED59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8F596-3A7F-4F31-9C3C-D4CD78FE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FoodTrack | evidencia: capturas locales del frontend y servicios 8080/8081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7C18B-6C7A-496C-B214-6A00D48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83425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D92F2-159C-4CB7-B705-5437B191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B1011-3F71-41CA-987B-2BAD24DB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322D6-2000-4EDA-ACFD-455E42BA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8D16B-3CC5-4BFE-A7FD-601C707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API de reportes es externa, pero comparte la misma fuente de verdad.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40FDB-60D0-4126-8EAF-B190C442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83952-C06D-40DE-90D0-90F1D4D6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Angular SPA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8A36-6841-4507-99C4-8485FD47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543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UI operativa, historial de ventas, boton manual de reporte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50B51-82C3-4055-B381-05B7C309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FE443-9E2D-47E5-B6B7-A81AE4C0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Backend FoodTrack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052CA-7C11-4BF1-B46B-DDD5764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62200"/>
            <a:ext cx="1924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Spring Boot 3.4.4, REST, casos de uso, seguridad, JPA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84AEA-E89C-40C3-9E80-A2C9CB76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885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0B215-AA08-4571-8799-B9667A93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MySQL foodtrack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5B969-4E87-4C25-A761-34EEA8C7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908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orders, order_items, products, app_users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A27FE-36B2-43EB-AB73-0B699F7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190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CDCE2-E119-4CBC-885F-EDFB57C9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ReportService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C151B-1B89-4C1E-895E-00989F3E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76750"/>
            <a:ext cx="1924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Spring Boot externo: datos, OpenAI, email, scheduler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C7A35-D7CE-4526-8FE0-15BB72FD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00500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37365-BF49-4C05-8563-F49A71D9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C8D94-E08F-4A2B-A052-67150506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815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Generacion del reporte profesional; fallback si falla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E6937-BE65-4B97-9543-53841FCA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F68EC-6B84-46E7-990C-45AFE869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Gmail SMTP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3D995-9EAF-4788-9C5F-A4429D78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815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Entrega a todos los administradores con email 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C0FA7-3F79-452E-8B3F-8196A98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03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E5351-33D1-467B-8A29-E409CA89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71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REST 8080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E037D-B774-47E5-932E-7F775D7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48F28-9DA2-49E8-8AA7-5F1142E7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JPA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B0513-67A1-466D-BACF-A7F9372B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956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70109-6E9D-454A-B204-27275202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861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POST /api/admin/reports/generate-now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142AB6-F9F1-4980-9860-7FE14B6F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1960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E18CE-B662-45F2-91C0-FB71730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196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7BB86-E469-4FA9-942E-8A568E14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19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87D5F9-C75D-41A3-AF09-DB1621A2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misma BD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BE6F58-876D-409E-9038-82C4B016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964BF5-617D-4FF1-A07E-D5E5E6C9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Fuentes: docker-compose.yml, application.properties, ReportService application.yml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415B1B-CADF-4A58-B766-B7E2A61C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48116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874526-4AAC-43E8-BCED-7564DF91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F0B02-6DA0-4011-A0BC-74F0ACC0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BA55E-8DEA-459E-A091-42E118E5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IMPLEMENTACION DE MODULOS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CC120-C492-4C40-A05F-E563043C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El backend separa entrada, aplicacion, dominio e infraestructura.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D3CBE-9ABD-47C8-A7BC-AC0AAE89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1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0AD9F-5D1A-4CFF-95BB-C1622602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entrypoint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07D4A-9BF1-48A2-A97E-5ED83A4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09775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Controllers REST: ordenes, usuarios, reportes 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3C17D-9313-4228-8D79-3FB3FFF9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7F33E-7DAE-42ED-B3B0-ABE44CD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30D9D-7B0B-46E5-8D06-16916E30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47975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Casos de uso y servicios: orquestan reglas sin depender de frameworks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53769-B768-4EE3-915E-FF7D7C1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5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54B76-EA2B-41E3-9CC8-B4DB4F96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8C94E-3CF2-4064-A6B7-7AD8000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86175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Entidades y contratos del negocio: ordenes, usuarios, mesas, productos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306F9-CDDC-4C18-B3DD-DE6CB718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5E6498-229A-44E7-946A-E5E2ADFF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2F653-DA3B-4D74-A8B9-7C695B2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24375"/>
            <a:ext cx="2743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JPA repositories, adaptadores externos, persistencia 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EB3067-CD6C-47D8-B68D-7411E67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85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F"/>
          </a:solidFill>
          <a:ln xmlns:a="http://schemas.openxmlformats.org/drawingml/2006/main" w="0">
            <a:solidFill>
              <a:srgbClr val="CFE0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5E135-91AD-47AE-8A14-0CA2152E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952625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Report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70BD1-0AB6-4334-9BCE-7B83FAD3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2CB59-204F-49E3-9D30-C765D26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AdminReportController llama al ReportService por HTTP.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F4CFD-7C4F-4218-B255-CE4991DE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90850"/>
            <a:ext cx="1095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1"/>
          </a:solidFill>
          <a:ln xmlns:a="http://schemas.openxmlformats.org/drawingml/2006/main" w="0">
            <a:solidFill>
              <a:srgbClr val="BFE4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3DF5B-BF99-4F2F-9DB9-CA3D8948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57525"/>
            <a:ext cx="866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Ordenes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F3908-E379-46CE-BFBA-99C4B7BA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5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96633-912F-4916-938F-7C363FB1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392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RestaurantTableApplicationService persiste y registra cierres de orden.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9390F-E52C-473B-B271-565B363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95750"/>
            <a:ext cx="1095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5"/>
          </a:solidFill>
          <a:ln xmlns:a="http://schemas.openxmlformats.org/drawingml/2006/main" w="0">
            <a:solidFill>
              <a:srgbClr val="FFF0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2CACB-6668-4133-8561-AD03EF11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162425"/>
            <a:ext cx="866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0C0FC-9E28-4E13-91CE-5D3DECBC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00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7F7241-7037-46AB-A051-8CA7F2F8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3924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UserAdministrationApplicationService controla borrado, rol admin y reasignaciones.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CD392-1545-47B2-9D40-38B5AD80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29250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estructura permite agregar ReportService sin mezclar la logica de reportes IA con el nucleo de ventas.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69961-AAF9-4975-9F83-3B804135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97AAB-B31C-4540-8083-21903A7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Backend_FoodTrack/src/main/java/.../entrypoint, application, domain, infrastructure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5FA5FF-16B8-4543-A235-2B1120D3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42902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E4128-B2B5-4BDC-B724-319A6281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9E4ED-33DA-4FD0-94E6-ED2D2ED3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63549-CABA-43C7-B11A-FC20AEAE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06EEB-5C00-46E1-B0BF-B38A288C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demo tiene pantallas reales y un flujo manual para generar reportes.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FF4BC-49A5-4DED-8778-6C238A7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5010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1B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a415cf7e74610"/>
          <a:srcRect xmlns:a="http://schemas.openxmlformats.org/drawingml/2006/main" l="131" t="0" r="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52600"/>
            <a:ext cx="4933950" cy="2781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DEE9C-D3C2-4A63-B47B-E18502C6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Home del 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2B71-B969-4467-8AA2-E8B9AD0C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4577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1B6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1412885bf4fe3"/>
          <a:srcRect xmlns:a="http://schemas.openxmlformats.org/drawingml/2006/main" l="0" t="121" r="0" b="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1752600"/>
            <a:ext cx="4381500" cy="24574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9EA71-BEE4-4C85-98C8-3A615B3E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Login de FoodTrack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77AEE-B05B-418A-8529-FD1DE268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A7D66-382C-47C2-B75D-EA8FB854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1 click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3DE67-E438-4A05-A47E-D1D223D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Administrador dispara reporte desde historial de ventas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D868E-5725-4037-8F6A-287D2CB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340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9598A-4908-4C50-8E5C-BAEF8A2D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95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60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CD0BF-5767-4BF7-86CA-3C9DC62E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578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Toast flotante se puede cerrar o desaparece solo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15042-7986-4D1A-BB10-DF455B0E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3340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E80C0F-8DC2-4BC9-99C8-5029F332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95900"/>
            <a:ext cx="272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 admins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96335-A188-413C-A867-C70F980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Envio a todos los correos admin reales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A4AD3-D122-490B-8B11-91A77A42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E93C3-C886-48A5-AAC3-70CD52BC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Capturas generadas desde http://localhost:4200/home y /login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1402C-D271-4D94-9300-36206978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73360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464B2-B66C-487F-A5D8-95E3A09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CF97C-405F-48CF-B8F6-154DD9A9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14945-4E4B-4582-9ADD-681A55C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API EXTERNA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BC85E-4D7F-4EC9-A98E-AD371832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ReportService orquesta datos reales, IA, fallback y correo.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69062-7D48-47C1-8D24-B20850EF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BDB8D-80D1-4565-87AB-EFF77485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1.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8ADAA-5A36-4836-A28F-DE80CC0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Manual: POST /api/reports/generate-and-send</a:t>
            </a:r>
          </a:p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Automatico: @Scheduled 20:00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3D30C8-EE8F-47DC-8285-DFBDEB05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9964D-05DB-4B63-B75F-DDDD87A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2. SalesDataService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3A021-F97A-4E8B-9A4F-839D34AC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Consulta MySQL foodtrack por fecha y filtra admins validos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325F6-EF07-43CD-9D6C-179DB699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71314-3E5E-4733-956B-83673BE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956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3. OpenAIService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19CCC-A378-4670-81BF-8389AE82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623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Genera reporte ejecutivo; si falla, produce reporte basico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BC7DD-9CCF-48CA-ACAC-16836786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1952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5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43F90-595C-4791-BD33-1141EF82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685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4. EmailService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11705-9298-47AF-B848-BE9BFA1D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16859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SMTP Gmail envia el reporte a cada administrador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52702-E1FC-489D-8882-DF11E05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81300"/>
            <a:ext cx="1333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9F0A4-8378-4ECA-B7C3-0B455806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95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5. Resultado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894B7-8DF4-4598-91D0-F9310D64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62300"/>
            <a:ext cx="1066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JSON de estado y logs con exito/fallo por destinatario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4FF0E-2CD3-48EE-B4F2-30470283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71850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62F711-969D-4AC2-97BA-2D8EA78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71850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F3AA9-9C82-49EC-A984-9DC13DCC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371850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BA9C23-1D51-427D-ADF2-90BD6C58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3718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DD0B2-7365-4A43-A60E-BD337EBE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823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@Scheduled(cron="${reports.scheduler.cron:0 0 20 * * *}", zone="America/Bogota")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A8597-D413-41F4-B2C0-D55F118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Decisiones clave: configuracion por variables de entorno, ddl-auto validate, open-in-view false, errores SMTP detallados.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5B4E8-2570-4F3E-AE7C-33F04B05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795B7-AB72-4AB3-8685-E94DA67E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ReportController, ReportProcessingService, SalesDataService, OpenAIService, EmailService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2D9C6-8143-41EA-98DB-0308D250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15090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B5FD4B-FFD1-41CF-88E5-33F240C5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3276E-D237-4F42-B400-D1A92900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CD23A-2697-4389-B3AA-6A0384B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DATOS Y REPORTE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C2A4-1757-4575-95D0-EDE456E2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El reporte diario se calcula desde tablas operativas, no desde datos quemados.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8F5C2-B161-41AA-A73F-CEF2DCE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EDD84-838B-4210-AAAD-9B5BB925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0DCCC-6153-44CC-A808-C9CC019D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fecha, mesa/cliente, estado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57AC5-E6B4-4A5A-B0C9-B802EA0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266E5-844B-44B7-96F4-CC75344A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09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order_items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07494-4961-4B51-AB91-90E97E0B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cantidades, subtotales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02B2D-14A0-4BDF-B2FA-9E00965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95500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53247-10AF-4846-B206-FFB067F9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09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657EB-2930-4C47-8819-7718C308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nombre del producto 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ABED7-D238-48D8-BF03-CA0BA4AB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1638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EA2F7-DF68-46EC-A3EA-F3F50132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app_users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00076-4534-409D-9D96-82980A8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administradores destino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B7C01-2E6E-4148-AC7A-1BA5FFF1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7C112-6608-4726-86D3-FDFF452F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574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DailySalesReport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3801-7C4C-4A12-AB89-F5C73360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totalSales</a:t>
            </a:r>
          </a:p>
          <a:p xmlns:a="http://schemas.openxmlformats.org/drawingml/2006/main"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orders</a:t>
            </a:r>
          </a:p>
          <a:p xmlns:a="http://schemas.openxmlformats.org/drawingml/2006/main"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uniqueCustomers</a:t>
            </a:r>
          </a:p>
          <a:p xmlns:a="http://schemas.openxmlformats.org/drawingml/2006/main"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averageOrder</a:t>
            </a:r>
          </a:p>
          <a:p xmlns:a="http://schemas.openxmlformats.org/drawingml/2006/main"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topProduct</a:t>
            </a:r>
          </a:p>
          <a:p xmlns:a="http://schemas.openxmlformats.org/drawingml/2006/main"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adminEmails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67C88-6600-4028-A902-EDA38E5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8B111-7C68-4D3C-91F8-8FA79084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$199.000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F5324E-9586-4B44-BBE6-75ECCBE6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Ventas detectadas en prueba local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C6506-5627-43FF-B8BB-1283E50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8CE4F-E1C5-459B-BB94-2814DA4D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481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AF8D-AD50-49DE-B64E-EE712E1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101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Ordenes del dia en la BD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0E4FE-434A-4FDB-B176-2C8C9270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8D746-56ED-4396-BF31-0CC3CDDD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1962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Lomo de 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9FF77-9367-4DE6-8D8E-2BE3006A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Producto mas vendido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EA111-AA50-4266-B4A7-4D686C7B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30EA9E-F9B2-4984-B05F-4DB992ED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4815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jacob@...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420E89-CFF5-481D-ABD3-3D72529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101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Admin real; placeholders filtrados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93A6F-6D98-4825-9883-4D9D91A5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0BEE77-AA66-44DB-96FB-3B4EB953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SalesDataService: orders, order_items, products, app_users | prueba local 2026-05-02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6DD0F5-3909-4B9D-B51B-AAC0BB4F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2596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4CC45-A412-4114-A820-C16B2BD8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90EB0-783D-4085-8D4E-929AB6C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72808-0726-4CBE-80C3-FD4EDEE8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12-FACTOR APPS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35655-86F1-461A-988E-DB4D7144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Los factores aparecen aplicados como practicas verificables del proyecto.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6C6E3-8BAF-4185-870E-870AB57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4BDB5-27D8-478F-B763-BC08585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Codebase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1D759-3630-4693-9956-8AF41047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288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Monorepo Spring + frontend; ReportService separado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A1FA0-D381-40C2-9950-EDE7763F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6D782-830C-4B1B-A2A6-C2CD482D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C2232-3310-4422-BEFB-2C779F12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Maven/npm declarativos; MySQL/JPA/Mail/OpenAI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4E1F3-C5D7-4734-863A-3857475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AC8DD-22DD-4A70-AD34-B91B5F01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87148-B375-47E4-91B7-20E06EDE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04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DB, Gmail, OpenAI, scheduler por env vars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DE326-CE58-4B0F-A43F-6FE4833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7FE48-FCE9-4E39-980D-B058E141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957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Backing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17E94-2BFC-483A-8769-1A08155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862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MySQL, OpenAI y SMTP tratados como servicios conectables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FDA48-106B-49BC-8332-C52BC5F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A1AD7-0B27-43AE-A787-EAEF08D8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 / Release /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CB0EB-8148-4120-B733-0BF88340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 Actions compila, prueba, empaqueta y construye imagenes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036BB7-F683-411E-8D30-98AD3757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E233C-D364-47DE-8666-5CF50D8B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Processes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B9EFE-74D9-4D85-8F17-5AA97E4C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578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Spring Boot stateless; estado persistido en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26644-2391-4979-9EA6-12847BC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937DD-F621-4AD6-B626-9FA73A1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Port binding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852F77-4180-423A-8372-FF2C14F5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288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8080 backend, 8081 ReportService, 4200 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799D9-0B91-41C9-A933-2D50E1D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F1D9E-0CFF-4DCB-B120-E627ED9E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Concurrency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8E9E2-7FD1-4A14-84C8-4BFEADA3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Servicios independientes escalables por proceso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72144-45FB-4ACA-8DE4-82AF3699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D38D4-92E4-4000-A9A8-1ADAACC2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99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Disposability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FE418-9980-4727-992C-A6D56433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Healthchecks, logs claros y arranque por config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1A3048-A299-4474-A32D-6B3F1A5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F992FE-BE19-4B67-B2DF-7568697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957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Dev/prod parity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22BD7-831B-4893-A098-71492788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docker-compose y variables replican entorno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5A7C91-1B29-40B2-94E3-1998685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767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DA785D-CC9C-4F15-89D8-3FAA05C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81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586EDD-4A29-4289-8D0E-EEDCEC3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stdout con niveles INFO/DEBUG/ERROR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D056E8-2EA1-4A49-AF10-007EB4D2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461C4F-F685-4158-A0B3-9C038406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673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Admin processes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B4AB40-E363-479D-B561-F138F4C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Endpoint manual generate-now para tareas admin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386CEF-C38A-40F9-8823-6623DA1A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082C1A-FAF9-472C-9DA0-2455E5DB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Evidencias: application.yml/properties, docker-compose.yml, GitHub Actions, endpoints admin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61D319-197D-4BFF-ABA8-B874E36B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859073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1820E-7637-40B7-A305-2DFE3F90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DD2B6-B714-4D93-BE14-D8988780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2C0D5-79FB-4AA8-BF1A-DD8F186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SOLID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F68F9-F66E-4769-B076-4D4257C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SOLID se ve en responsabilidades pequenas y dependencias hacia contratos.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85243-4AD8-492D-82E4-4F025CDC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78713-55DF-4D3F-87E3-C29385D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CCDE7-F44D-4649-A664-C5EC97C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28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Single 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9289E-1100-447A-BEC4-CB9EE7B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859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ReportController expone endpoints; ReportProcessingService orquesta; EmailService solo envia correo.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4DB21-1AF6-4644-A14C-8DAA187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1452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49E98-439D-4295-AC2B-53DF5DDA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62150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C97D2-7577-4D2A-B868-C209DAFD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675BF-5F83-4614-B55E-AE4AD67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48AC0-B6BA-4FE7-BAC6-0129CA0F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Open/Closed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A2F5-7C06-4601-BB07-3CE7BA36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2892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Nuevos flujos de reporte se agregan como servicios/endpoints sin tocar el dominio de ordenes.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E16E4-EF4D-42BD-B936-B3A126D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5747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89511-21AE-48AE-AED3-16B3C75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05100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410B5-B24A-48C9-9DBA-4E693CA6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BF171-A89A-466D-A7E2-279D23C8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BAFA3-BCFB-465F-B993-5E05205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14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Liskov Substitution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A40A1-AC57-40FB-93CB-26C1936C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71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Puertos de repositorio permiten cambiar adaptadores sin romper los casos de uso.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626D2D-E441-445D-A204-862BCC81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0042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F629C-0FF2-464E-83BB-87DF8F1C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448050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A43C6-D1CE-4F93-85AB-AA0320B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6B907-0CE5-4079-8251-181F12FC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767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3A5B3-7F53-4710-BAA4-BB3B09A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57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Interface Segregation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80658-CFE6-4DDE-A63E-A761AA46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1482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UserRepositoryPort y casos de uso exponen operaciones especificas, no interfaces gigantes.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8547B-26B8-44DD-B423-12426FFD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4337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D02DA0-7A30-4098-8C6B-7BF04D27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191000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78C704-AF8B-4F6F-A809-7EB328F2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00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486271-0AFC-4B30-8EC0-F8C6AD4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965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0200C4-F4DC-48E2-B89B-831D378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00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Dependency Inversion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577277-B3A0-4EFB-B35C-87EEBEE3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577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Aplicacion depende de puertos; infraestructura implementa JPA/HTTP/SMTP.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146DAF-5E34-4948-B4EA-1B711691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B06655-32BC-4839-85C2-33B795A8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933950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81ECD6-7D4F-4BAA-B601-BB96E6D6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9DBF1-DC4B-4716-A290-A1DFC0FD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Mapeo a clases: controllers, services, ports, repositories/adapters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DC1C2B-184E-4639-9BD4-57993EC4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18857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AA3B0-4133-4006-B2A3-A1F138DF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14ADB-D584-4CF5-B66F-1C460FC7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B0D9E-7F1C-4181-9E9F-97AB472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LOGS Y RESILIENCIA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A5B4C-6FEB-478B-A5D3-E75A912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Los fallos externos quedan visibles y no tumban el flujo completo.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FC199-3D54-42D4-B6E0-8A5AEEBC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04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934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58F65-80BA-469B-84B8-7F7370F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67437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OpenAI configuration detected. Using model gpt-4o-mini</a:t>
            </a:r>
          </a:p>
          <a:p xmlns:a="http://schemas.openxmlformats.org/drawingml/2006/main"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SMTP Gmail configuration detected for jacobmunoz992@gmail.com</a:t>
            </a:r>
          </a:p>
          <a:p xmlns:a="http://schemas.openxmlformats.org/drawingml/2006/main"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Sales data ready: orders=2, totalSales=199000.00, topProduct=Lomo de Res</a:t>
            </a:r>
          </a:p>
          <a:p xmlns:a="http://schemas.openxmlformats.org/drawingml/2006/main"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ERROR Error generating AI report. Falling back to basic report: 401 invalid_api_key</a:t>
            </a:r>
          </a:p>
          <a:p xmlns:a="http://schemas.openxmlformats.org/drawingml/2006/main"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ERROR Error enviando email: 535 Username and Password not accepted</a:t>
            </a:r>
          </a:p>
          <a:p xmlns:a="http://schemas.openxmlformats.org/drawingml/2006/main"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Daily report flow finished. emailSent=false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D63F4-D682-4A41-9E02-9C19769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4A"/>
          </a:solidFill>
          <a:ln xmlns:a="http://schemas.openxmlformats.org/drawingml/2006/main" w="9525">
            <a:solidFill>
              <a:srgbClr val="3B4A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BBDFF-5DA6-4967-A9B7-DE1CBB1A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Fallback OpenAI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80DD8-8C4A-4DC7-8AB5-865EC61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Si la key falla, se genera reporte basico con datos reales.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8AC4E-5574-47C4-AEA2-84458F46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257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D18"/>
          </a:solidFill>
          <a:ln xmlns:a="http://schemas.openxmlformats.org/drawingml/2006/main" w="9525">
            <a:solidFill>
              <a:srgbClr val="6B4A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88A84-E9C7-4836-B982-868E6A1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SMTP diagnostico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18FB6-3AEE-49DE-B6EF-3FAA6333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9E7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9E7C8"/>
                </a:solidFill>
                <a:latin typeface="Aptos"/>
                <a:ea typeface="Aptos"/>
                <a:cs typeface="Aptos"/>
              </a:rPr>
              <a:t>El error 535 indica credencial Gmail invalida o falta app password.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D4B9-8748-423E-AC4D-AC0EC34A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42A"/>
          </a:solidFill>
          <a:ln xmlns:a="http://schemas.openxmlformats.org/drawingml/2006/main" w="9525">
            <a:solidFill>
              <a:srgbClr val="356E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566BC-5623-4BD1-8D9A-D8F41AAD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parcial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47FBF-5C38-45EA-9644-DE1E2F8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5F0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F0E1"/>
                </a:solidFill>
                <a:latin typeface="Aptos"/>
                <a:ea typeface="Aptos"/>
                <a:cs typeface="Aptos"/>
              </a:rPr>
              <a:t>El resultado enumera destinatarios enviados y fallidos.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DD460-BB60-4FEE-A669-5211D73D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BB4FB-BEF5-4DFB-99F0-E9A9384E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Logs reales resumidos del arranque y POST /api/reports/generate-and-send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78FE0-EE0A-4E09-9E62-4FE16496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04251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4C6B3-6E27-4B15-8A81-2E0BBA7A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B5C8-4AFB-4ECD-BBB6-CB3D301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481E4-2422-42C0-9620-7C5DE769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PIPELINE CI/CD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F0498-7312-45D6-91BA-12FC6AD6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El pipeline valida backend, frontend y empaquetado antes de construir imagenes.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767E4-DC07-47BA-B086-3282DA7A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A2994-A72B-425A-BC38-A93BF650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Push / PR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46478-7A3E-43E0-AECA-A370E5E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GitHub Actions dispara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00E13-67BD-4837-9DFA-910F270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3360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C0CAA-8788-4AF1-B45A-41DCD9C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1ACA6-3500-4F49-BDA3-E30F185F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JDK 17, Maven cache, test, surefire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31D45-14A7-4B1D-BDC0-A79BC4F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1790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08176-39A7-4458-98EF-AB16F055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Frontend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70599-9AA8-4C49-B84B-4C49A0D6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Node 20, npm ci, ChromeHeadless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5F33E-E7B6-4501-A0EC-D487F5E3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1790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00D75-EC4A-4961-A1B0-E4311BC9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Build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CA5D1-8376-4E92-83D2-BB16E572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JAR y dist Angular como artefactos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0BED8-8B6A-4750-87A5-1CD6D87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1790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5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4E80D-2517-4B47-894F-79AC06B8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 images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3D236-ABEA-476C-A616-65120F5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Build de imagen backend y frontend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96C566-4A50-4B87-815C-C52A0A5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24150"/>
            <a:ext cx="1257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2DF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F2E4E-2D36-4F6D-A037-54AB1F9A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384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A209A-DB85-464B-B882-4B1888D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05150"/>
            <a:ext cx="990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Resumen de pruebas y estado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97766-157A-4A68-8FD3-25B83B00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D6B0F4-2199-4088-AC07-D9B32FF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62300"/>
            <a:ext cx="19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C8589-38A7-4BCF-A7E2-FCC97A47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1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18DAA-6A86-4E6A-A772-79E737D6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9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B40DC6-46DD-45FC-87BE-8DB3C3E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2125F-A03D-4631-BB2D-45FA428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21FE9-5D27-4BCA-B10A-BC670C5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.github/workflows/ci.yml + ci-backend.yml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E79C15-80C5-4A8B-8C77-13166DD1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Esto da evidencia repetible: no depende de ejecutar la demo manualmente para saber si el proyecto compila y prueba.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15E1DB-1105-40AD-9A08-24ED80FE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523ABB-BD7B-47D8-89E6-A5387BF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CI/CD: Maven, npm, ChromeHeadless, artifacts, Docker image build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EA3D5E-B7BF-4119-A4A2-2069354C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76366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1B604-1792-4325-9A7D-CCBDC29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30ABD-7AD2-47B2-A078-E531EDCA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DE844-0551-4C99-8AD3-6B3D347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TESTING E INTEGRACION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975AC-7CE5-4473-B8EC-1DFED950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prueba local confirmo la cadena completa; quedan credenciales reales por configurar.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61A42-D70D-400D-9EFA-7882570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79102-9D09-486C-9BDF-FDB4BA75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7BCB9-6911-491F-931A-9026C26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0500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compile +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8B94A-C228-4A2D-A8C7-1BAEB208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1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0EC6D-CEDA-44FE-8EE3-109BF63E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8D062-CD46-4FC0-BEAA-0B274E26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742A3-2F71-4A7D-950E-C4EC7F2E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ReportService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60B29-ACF6-4097-BDC4-DC92BA9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336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compile + arranque 8081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F0B8A-7124-46E3-852F-AE1548BD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1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5C00F-0DEB-4004-B86D-E635488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2A3B17-30D6-4B38-9907-7798966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38EE4-37B3-4A37-BB4A-398B7FC1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B53BD-15B5-4044-95A4-F6369209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npm run 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F9A3C-5118-46E7-A8D0-5A15983A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1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F0EF0-CD9F-40B5-8BCF-0C4ED044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6EB77-E98A-487B-A738-DD0B2F36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02CA8-2A2F-4EE8-B3BD-EB7AF9CE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Integracion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49829-448A-4E7F-B2BD-5D9EF2F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909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4200 -&gt; 8080 -&gt; 8081 -&gt;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D684D-C4DE-4EEC-958C-D8C8B02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4D1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60A1A-F5C5-4196-A297-BE50952A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0FB764-F693-4857-9E4A-0281F38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406F5-A9EC-4D6C-AF1D-4AF348D4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0F5F2-E3FA-4A65-B431-18A895A4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1960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key placeholder genera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CFA89-F3E3-4D24-835A-EE0B40BB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005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19D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AA2C2-C422-48E6-8D1F-57B58616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5770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B3D0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3D07"/>
                </a:solidFill>
                <a:latin typeface="Aptos"/>
                <a:ea typeface="Aptos"/>
                <a:cs typeface="Aptos"/>
              </a:rPr>
              <a:t>PENDIENTE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0A7FB-0D37-48B2-8E81-516E236A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885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3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D4CC41-AA68-4183-8543-36D2AF6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Gmail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C21C4-00EA-4F11-A18A-1EE2B39D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447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app password invalida: error 535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88F7A9-F83B-485B-BCCA-BC2B0A6E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292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19D"/>
          </a:solidFill>
          <a:ln xmlns:a="http://schemas.openxmlformats.org/drawingml/2006/main" w="9525">
            <a:solidFill>
              <a:srgbClr val="D58A2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DF8C5-8063-41EC-8D51-CA6A5FB8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86350"/>
            <a:ext cx="76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B3D0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3D07"/>
                </a:solidFill>
                <a:latin typeface="Aptos"/>
                <a:ea typeface="Aptos"/>
                <a:cs typeface="Aptos"/>
              </a:rPr>
              <a:t>PENDIENTE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AFEF7-267A-497B-B13E-02F99BDA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Lectura de prueba: se detectaron 2 ordenes, $199.000 en ventas y un producto top. El envio fallo por credencial Gmail, no por codigo.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AD887A-E5C0-424B-9B04-74D8BA6A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64560-D34A-4B50-9250-D9019B6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Validacion local 2026-05-02 | requiere OPENAI_API_KEY y GMAIL_PASSWORD reales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226705-DDF0-4984-B44E-E8CC4A05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31513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3E121B-2D21-4CC1-B46E-655B2569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D7225-D186-4D50-956A-333C115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4A6FE-7E7B-4F93-8B3F-E4E37EDD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A09C9-4A07-4A7C-B5C7-AE13438F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FoodTrack queda listo para demo tecnica y mejora incremental.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113B6-259E-48BB-8877-2ADE607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2904F-82A4-4D53-903F-1270576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Hecho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35BBC-3767-4D53-82AD-3B13E51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API externa integrada con datos reales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0C070-A011-461A-9A56-4D6F2D4B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7A6F3-D37A-4676-BBC2-B333D2D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574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Hecho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9C666-CABF-4476-911E-06ACF5F5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1935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Boton manual + scheduler configurable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58AB7-6D5C-49E0-948B-45B3F567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2470D-C213-463E-9F81-2709D457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Hecho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273AC-E36C-452C-9C63-D26B5C1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1935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Multi-admin email con manejo parcial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68A7E-01BB-407E-8662-1D287CA9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62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A34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9FC26-868B-435D-94C8-35C4FB9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Siguientes pasos recomendados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10A70-B840-46BE-BFC8-CBF839E4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C986C-AED9-4B92-B6F5-4536649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Configurar app password real de Gmail y key real de OpenAI.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673F5-69FD-4FAC-ADF5-D91B16DD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05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A09B5-553B-44AE-980B-37D20934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Agregar Flyway/Liquibase para versionar esquema de BD.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9229E-F0A0-4286-9106-BEE8E950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B4832-F4F1-4AD4-9172-E6C8E5CF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Guardar historico de reportes enviados y auditoria por destinatario.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52F52-254F-4EB6-B74C-4CC4D9E2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3714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A34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C4996-09AF-4AC3-9AC3-ECD630F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Mensaje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BFB76-5B9E-42E9-94C5-673E1E1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DE6F3"/>
                </a:solidFill>
                <a:latin typeface="Aptos Display"/>
                <a:ea typeface="Aptos Display"/>
                <a:cs typeface="Aptos Display"/>
              </a:rPr>
              <a:t>El proyecto no solo vende y administra restaurante: tambien automatiza inteligencia operativa diaria desde la misma base de datos.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8E382-4B03-4C33-A28F-4935121C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4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BA0A1-6DAC-4928-91C6-DBE5EAC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FoodTrack technical presentation | backend + frontend + ReportService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B45CF-3788-45C0-A597-996A290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2084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2026-05-03T03:08:38.9180000Z</dcterms:created>
  <dcterms:modified xsi:type="dcterms:W3CDTF">2026-05-03T03:08:38.9180000Z</dcterms:modified>
</coreProperties>
</file>